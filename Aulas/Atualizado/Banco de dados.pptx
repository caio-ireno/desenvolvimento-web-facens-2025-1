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83" r:id="rId2"/>
    <p:sldMasterId id="2147483696" r:id="rId3"/>
    <p:sldMasterId id="2147483709" r:id="rId4"/>
  </p:sldMasterIdLst>
  <p:notesMasterIdLst>
    <p:notesMasterId r:id="rId57"/>
  </p:notesMasterIdLst>
  <p:sldIdLst>
    <p:sldId id="256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3" r:id="rId38"/>
    <p:sldId id="334" r:id="rId39"/>
    <p:sldId id="335" r:id="rId40"/>
    <p:sldId id="336" r:id="rId41"/>
    <p:sldId id="337" r:id="rId42"/>
    <p:sldId id="338" r:id="rId43"/>
    <p:sldId id="340" r:id="rId44"/>
    <p:sldId id="341" r:id="rId45"/>
    <p:sldId id="342" r:id="rId46"/>
    <p:sldId id="339" r:id="rId47"/>
    <p:sldId id="343" r:id="rId48"/>
    <p:sldId id="344" r:id="rId49"/>
    <p:sldId id="345" r:id="rId50"/>
    <p:sldId id="353" r:id="rId51"/>
    <p:sldId id="354" r:id="rId52"/>
    <p:sldId id="355" r:id="rId53"/>
    <p:sldId id="356" r:id="rId54"/>
    <p:sldId id="357" r:id="rId55"/>
    <p:sldId id="358" r:id="rId56"/>
  </p:sldIdLst>
  <p:sldSz cx="18288000" cy="10287000"/>
  <p:notesSz cx="18288000" cy="10287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89"/>
  </p:normalViewPr>
  <p:slideViewPr>
    <p:cSldViewPr>
      <p:cViewPr varScale="1">
        <p:scale>
          <a:sx n="50" d="100"/>
          <a:sy n="50" d="100"/>
        </p:scale>
        <p:origin x="1066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ália Nogueira" userId="72fb52ae66b9bc35" providerId="LiveId" clId="{0411615C-6966-4958-AC18-5EF5FEAD03B0}"/>
    <pc:docChg chg="custSel modSld">
      <pc:chgData name="Nathália Nogueira" userId="72fb52ae66b9bc35" providerId="LiveId" clId="{0411615C-6966-4958-AC18-5EF5FEAD03B0}" dt="2025-05-30T23:21:34.896" v="4" actId="13926"/>
      <pc:docMkLst>
        <pc:docMk/>
      </pc:docMkLst>
      <pc:sldChg chg="modSp mod">
        <pc:chgData name="Nathália Nogueira" userId="72fb52ae66b9bc35" providerId="LiveId" clId="{0411615C-6966-4958-AC18-5EF5FEAD03B0}" dt="2025-05-30T23:21:34.896" v="4" actId="13926"/>
        <pc:sldMkLst>
          <pc:docMk/>
          <pc:sldMk cId="1126398108" sldId="358"/>
        </pc:sldMkLst>
        <pc:spChg chg="mod">
          <ac:chgData name="Nathália Nogueira" userId="72fb52ae66b9bc35" providerId="LiveId" clId="{0411615C-6966-4958-AC18-5EF5FEAD03B0}" dt="2025-05-30T23:21:34.896" v="4" actId="13926"/>
          <ac:spMkLst>
            <pc:docMk/>
            <pc:sldMk cId="1126398108" sldId="358"/>
            <ac:spMk id="3" creationId="{ED4DEEC0-878C-3AAF-960A-DEEFCA3EBE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6806C-8325-3144-9EEF-A0BCCCFE99C6}" type="datetimeFigureOut">
              <a:rPr lang="pt-BR" smtClean="0"/>
              <a:t>30/05/2025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A873D-DDF8-7B49-BF71-0637244742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358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914400" y="5057342"/>
            <a:ext cx="16458480" cy="6647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800" b="0" strike="noStrike" spc="-2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1158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5555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9422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233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914400" y="4058882"/>
            <a:ext cx="16458480" cy="6647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800" b="0" strike="noStrike" spc="-2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360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7939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934848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22902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27445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98786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934848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76184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47928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1204416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256775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470056" y="4387417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485722" y="6565628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6858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3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371600" marR="0" lvl="1" indent="-3429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057400" marR="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743200" marR="0" lvl="3" indent="-3429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429000" marR="0" lvl="4" indent="-3429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114800" marR="0" lvl="5" indent="-3429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800600" marR="0" lvl="6" indent="-3429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486400" marR="0" lvl="7" indent="-3429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172200" marR="0" lvl="8" indent="-3429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D8BD707-D9CF-40AE-B4C6-C98DA3205C09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431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35088" y="817794"/>
            <a:ext cx="16438512" cy="97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5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914400" y="2011152"/>
            <a:ext cx="16459200" cy="733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85800" marR="0" lvl="0" indent="-6477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371600" marR="0" lvl="1" indent="-609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057400" marR="0" lvl="2" indent="-57150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743200" marR="0" lvl="3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429000" marR="0" lvl="4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114800" marR="0" lvl="5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800600" marR="0" lvl="6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486400" marR="0" lvl="7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172200" marR="0" lvl="8" indent="-533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D8BD707-D9CF-40AE-B4C6-C98DA3205C09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3995812" y="9846506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722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7823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6619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58" y="274319"/>
            <a:ext cx="17556480" cy="9738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970" y="1323564"/>
            <a:ext cx="14950440" cy="438912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90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4297" y="5804453"/>
            <a:ext cx="13151790" cy="2082248"/>
          </a:xfrm>
        </p:spPr>
        <p:txBody>
          <a:bodyPr>
            <a:normAutofit/>
          </a:bodyPr>
          <a:lstStyle>
            <a:lvl1pPr marL="0" indent="0" algn="ctr">
              <a:spcBef>
                <a:spcPts val="1500"/>
              </a:spcBef>
              <a:buNone/>
              <a:defRPr sz="2700">
                <a:solidFill>
                  <a:srgbClr val="FFFFFF"/>
                </a:solidFill>
              </a:defRPr>
            </a:lvl1pPr>
            <a:lvl2pPr marL="514350" indent="0" algn="ctr">
              <a:buNone/>
              <a:defRPr sz="2700"/>
            </a:lvl2pPr>
            <a:lvl3pPr marL="1028700" indent="0" algn="ctr">
              <a:buNone/>
              <a:defRPr sz="2700"/>
            </a:lvl3pPr>
            <a:lvl4pPr marL="1543050" indent="0" algn="ctr">
              <a:buNone/>
              <a:defRPr sz="2250"/>
            </a:lvl4pPr>
            <a:lvl5pPr marL="2057400" indent="0" algn="ctr">
              <a:buNone/>
              <a:defRPr sz="2250"/>
            </a:lvl5pPr>
            <a:lvl6pPr marL="2571750" indent="0" algn="ctr">
              <a:buNone/>
              <a:defRPr sz="2250"/>
            </a:lvl6pPr>
            <a:lvl7pPr marL="3086100" indent="0" algn="ctr">
              <a:buNone/>
              <a:defRPr sz="2250"/>
            </a:lvl7pPr>
            <a:lvl8pPr marL="3600450" indent="0" algn="ctr">
              <a:buNone/>
              <a:defRPr sz="2250"/>
            </a:lvl8pPr>
            <a:lvl9pPr marL="4114800" indent="0" algn="ctr">
              <a:buNone/>
              <a:defRPr sz="225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9A650A-8BD1-4FDE-9899-1C20DF4B7708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967991" y="5600700"/>
            <a:ext cx="1234440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92875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8672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914400" y="5057342"/>
            <a:ext cx="16458480" cy="6647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800" b="0" strike="noStrike" spc="-2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73014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6291582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24976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884462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914400" y="4058882"/>
            <a:ext cx="16458480" cy="6647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800" b="0" strike="noStrike" spc="-2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39761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306416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934848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826298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790331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519768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934848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385525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47928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1204416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27748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0565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914400" y="5057342"/>
            <a:ext cx="16458480" cy="6647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800" b="0" strike="noStrike" spc="-2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5686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3054962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396199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446476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914400" y="4058882"/>
            <a:ext cx="16458480" cy="664797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4800" b="0" strike="noStrike" spc="-2">
                <a:latin typeface="Arial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77248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partes pequenas de conteúd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3988463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934848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9549364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0775153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9590820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9348480" y="240678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9348480" y="5523120"/>
            <a:ext cx="80316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731439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14400" y="811954"/>
            <a:ext cx="16458480" cy="9140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Clique para editar o título Mestre</a:t>
            </a: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91440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47928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12044160" y="240678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200" cy="28452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pt-BR" sz="4800" b="0" strike="noStrike" spc="-2">
                <a:latin typeface="Arial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309710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58" y="274319"/>
            <a:ext cx="17556480" cy="9738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970" y="1323564"/>
            <a:ext cx="14950440" cy="438912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90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4297" y="5804453"/>
            <a:ext cx="13151790" cy="2082248"/>
          </a:xfrm>
        </p:spPr>
        <p:txBody>
          <a:bodyPr>
            <a:normAutofit/>
          </a:bodyPr>
          <a:lstStyle>
            <a:lvl1pPr marL="0" indent="0" algn="ctr">
              <a:spcBef>
                <a:spcPts val="1500"/>
              </a:spcBef>
              <a:buNone/>
              <a:defRPr sz="2700">
                <a:solidFill>
                  <a:srgbClr val="FFFFFF"/>
                </a:solidFill>
              </a:defRPr>
            </a:lvl1pPr>
            <a:lvl2pPr marL="514350" indent="0" algn="ctr">
              <a:buNone/>
              <a:defRPr sz="2700"/>
            </a:lvl2pPr>
            <a:lvl3pPr marL="1028700" indent="0" algn="ctr">
              <a:buNone/>
              <a:defRPr sz="2700"/>
            </a:lvl3pPr>
            <a:lvl4pPr marL="1543050" indent="0" algn="ctr">
              <a:buNone/>
              <a:defRPr sz="2250"/>
            </a:lvl4pPr>
            <a:lvl5pPr marL="2057400" indent="0" algn="ctr">
              <a:buNone/>
              <a:defRPr sz="2250"/>
            </a:lvl5pPr>
            <a:lvl6pPr marL="2571750" indent="0" algn="ctr">
              <a:buNone/>
              <a:defRPr sz="2250"/>
            </a:lvl6pPr>
            <a:lvl7pPr marL="3086100" indent="0" algn="ctr">
              <a:buNone/>
              <a:defRPr sz="2250"/>
            </a:lvl7pPr>
            <a:lvl8pPr marL="3600450" indent="0" algn="ctr">
              <a:buNone/>
              <a:defRPr sz="2250"/>
            </a:lvl8pPr>
            <a:lvl9pPr marL="4114800" indent="0" algn="ctr">
              <a:buNone/>
              <a:defRPr sz="225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9A650A-8BD1-4FDE-9899-1C20DF4B7708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967991" y="5600700"/>
            <a:ext cx="1234440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32602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500"/>
              </a:spcBef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07E61-D2F8-452B-B53A-91FE1E439E24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224669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636" y="1760363"/>
            <a:ext cx="14950440" cy="438912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9000" b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4892" y="6231780"/>
            <a:ext cx="13153644" cy="2045709"/>
          </a:xfrm>
        </p:spPr>
        <p:txBody>
          <a:bodyPr anchor="t">
            <a:normAutofit/>
          </a:bodyPr>
          <a:lstStyle>
            <a:lvl1pPr marL="0" indent="0" algn="ctr">
              <a:buNone/>
              <a:defRPr sz="2700">
                <a:solidFill>
                  <a:schemeClr val="accent1"/>
                </a:solidFill>
              </a:defRPr>
            </a:lvl1pPr>
            <a:lvl2pPr marL="51435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971801" y="6030612"/>
            <a:ext cx="1234440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3278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4500" y="3086098"/>
            <a:ext cx="7132320" cy="6035040"/>
          </a:xfrm>
        </p:spPr>
        <p:txBody>
          <a:bodyPr/>
          <a:lstStyle>
            <a:lvl1pPr>
              <a:defRPr sz="2475"/>
            </a:lvl1pPr>
            <a:lvl2pPr>
              <a:defRPr sz="225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01418" y="3086100"/>
            <a:ext cx="7132320" cy="6035040"/>
          </a:xfrm>
        </p:spPr>
        <p:txBody>
          <a:bodyPr/>
          <a:lstStyle>
            <a:lvl1pPr>
              <a:defRPr sz="2475"/>
            </a:lvl1pPr>
            <a:lvl2pPr>
              <a:defRPr sz="225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3A57-F65A-4C42-9156-7629C10666E9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36331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4500" y="3002266"/>
            <a:ext cx="7132320" cy="116586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4500" y="4082224"/>
            <a:ext cx="7132320" cy="5074920"/>
          </a:xfrm>
        </p:spPr>
        <p:txBody>
          <a:bodyPr/>
          <a:lstStyle>
            <a:lvl1pPr>
              <a:defRPr sz="2475"/>
            </a:lvl1pPr>
            <a:lvl2pPr>
              <a:defRPr sz="225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03760" y="2998548"/>
            <a:ext cx="7132320" cy="116586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03760" y="4078983"/>
            <a:ext cx="7132320" cy="5074920"/>
          </a:xfrm>
        </p:spPr>
        <p:txBody>
          <a:bodyPr/>
          <a:lstStyle>
            <a:lvl1pPr>
              <a:defRPr sz="2475"/>
            </a:lvl1pPr>
            <a:lvl2pPr>
              <a:defRPr sz="225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BF0B-319E-4F95-BA43-902EB3DC9783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709498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158B3-6703-4BBB-A09E-33FD65E7DB24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33780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9955-2DD3-491E-92B6-7018343227CE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4492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0" y="1645920"/>
            <a:ext cx="5669280" cy="260604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8628" y="1645920"/>
            <a:ext cx="8299276" cy="6995160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4500" y="4251960"/>
            <a:ext cx="5669280" cy="43891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913"/>
            </a:lvl1pPr>
            <a:lvl2pPr marL="514350" indent="0">
              <a:buNone/>
              <a:defRPr sz="1350"/>
            </a:lvl2pPr>
            <a:lvl3pPr marL="1028700" indent="0">
              <a:buNone/>
              <a:defRPr sz="1125"/>
            </a:lvl3pPr>
            <a:lvl4pPr marL="1543050" indent="0">
              <a:buNone/>
              <a:defRPr sz="1013"/>
            </a:lvl4pPr>
            <a:lvl5pPr marL="2057400" indent="0">
              <a:buNone/>
              <a:defRPr sz="1013"/>
            </a:lvl5pPr>
            <a:lvl6pPr marL="2571750" indent="0">
              <a:buNone/>
              <a:defRPr sz="1013"/>
            </a:lvl6pPr>
            <a:lvl7pPr marL="3086100" indent="0">
              <a:buNone/>
              <a:defRPr sz="1013"/>
            </a:lvl7pPr>
            <a:lvl8pPr marL="3600450" indent="0">
              <a:buNone/>
              <a:defRPr sz="1013"/>
            </a:lvl8pPr>
            <a:lvl9pPr marL="4114800" indent="0">
              <a:buNone/>
              <a:defRPr sz="101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8A28-1D79-4F41-9521-CF26BB2C7EE3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39121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0" y="1645920"/>
            <a:ext cx="5669280" cy="260604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38215" y="1604771"/>
            <a:ext cx="8515406" cy="696773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315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4500" y="4251960"/>
            <a:ext cx="5669280" cy="43205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1913"/>
            </a:lvl1pPr>
            <a:lvl2pPr marL="514350" indent="0">
              <a:buNone/>
              <a:defRPr sz="1350"/>
            </a:lvl2pPr>
            <a:lvl3pPr marL="1028700" indent="0">
              <a:buNone/>
              <a:defRPr sz="1125"/>
            </a:lvl3pPr>
            <a:lvl4pPr marL="1543050" indent="0">
              <a:buNone/>
              <a:defRPr sz="1013"/>
            </a:lvl4pPr>
            <a:lvl5pPr marL="2057400" indent="0">
              <a:buNone/>
              <a:defRPr sz="1013"/>
            </a:lvl5pPr>
            <a:lvl6pPr marL="2571750" indent="0">
              <a:buNone/>
              <a:defRPr sz="1013"/>
            </a:lvl6pPr>
            <a:lvl7pPr marL="3086100" indent="0">
              <a:buNone/>
              <a:defRPr sz="1013"/>
            </a:lvl7pPr>
            <a:lvl8pPr marL="3600450" indent="0">
              <a:buNone/>
              <a:defRPr sz="1013"/>
            </a:lvl8pPr>
            <a:lvl9pPr marL="4114800" indent="0">
              <a:buNone/>
              <a:defRPr sz="101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D9950-AF07-4F2A-A949-E1C816A93B30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15949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262D-6073-4A30-973C-53BE1D29884A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24717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1143000"/>
            <a:ext cx="3486150" cy="8115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4501" y="1143000"/>
            <a:ext cx="11144250" cy="8115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B0AF-EEE9-4421-9298-EB11A547E63F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5758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10004040"/>
            <a:ext cx="18285120" cy="29268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4800" b="0" strike="noStrike" spc="-2">
                <a:latin typeface="Arial"/>
              </a:rPr>
              <a:t>Click to edit the outline text format</a:t>
            </a:r>
          </a:p>
          <a:p>
            <a:pPr marL="1296000" lvl="1" indent="-486000">
              <a:spcBef>
                <a:spcPts val="17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4200" b="0" strike="noStrike" spc="-2">
                <a:latin typeface="Arial"/>
              </a:rPr>
              <a:t>Second Outline Level</a:t>
            </a:r>
          </a:p>
          <a:p>
            <a:pPr marL="1944000" lvl="2" indent="-432000">
              <a:spcBef>
                <a:spcPts val="1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600" b="0" strike="noStrike" spc="-2">
                <a:latin typeface="Arial"/>
              </a:rPr>
              <a:t>Third Outline Level</a:t>
            </a:r>
          </a:p>
          <a:p>
            <a:pPr marL="2592000" lvl="3" indent="-324000"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000" b="0" strike="noStrike" spc="-2">
                <a:latin typeface="Arial"/>
              </a:rPr>
              <a:t>Fourth Outline Level</a:t>
            </a:r>
          </a:p>
          <a:p>
            <a:pPr marL="3240000" lvl="4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Fifth Outline Level</a:t>
            </a:r>
          </a:p>
          <a:p>
            <a:pPr marL="3888000" lvl="5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Sixth Outline Level</a:t>
            </a:r>
          </a:p>
          <a:p>
            <a:pPr marL="4536000" lvl="6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6656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721" r:id="rId1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000" indent="-486000" algn="l" defTabSz="1371600" rtl="0" eaLnBrk="1" latinLnBrk="0" hangingPunct="1">
        <a:lnSpc>
          <a:spcPct val="90000"/>
        </a:lnSpc>
        <a:spcBef>
          <a:spcPts val="2126"/>
        </a:spcBef>
        <a:buClr>
          <a:srgbClr val="000000"/>
        </a:buClr>
        <a:buSzPct val="45000"/>
        <a:buFont typeface="Wingdings" charset="2"/>
        <a:buChar char="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10004040"/>
            <a:ext cx="18285120" cy="29268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CustomShape 2"/>
          <p:cNvSpPr/>
          <p:nvPr/>
        </p:nvSpPr>
        <p:spPr>
          <a:xfrm>
            <a:off x="0" y="-5940"/>
            <a:ext cx="18285120" cy="396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1" name="Google Shape;27;p3"/>
          <p:cNvPicPr/>
          <p:nvPr/>
        </p:nvPicPr>
        <p:blipFill>
          <a:blip r:embed="rId14"/>
          <a:stretch/>
        </p:blipFill>
        <p:spPr>
          <a:xfrm>
            <a:off x="16515360" y="-6480"/>
            <a:ext cx="1698480" cy="395280"/>
          </a:xfrm>
          <a:prstGeom prst="rect">
            <a:avLst/>
          </a:prstGeom>
          <a:ln>
            <a:noFill/>
          </a:ln>
        </p:spPr>
      </p:pic>
      <p:sp>
        <p:nvSpPr>
          <p:cNvPr id="42" name="CustomShape 3"/>
          <p:cNvSpPr/>
          <p:nvPr/>
        </p:nvSpPr>
        <p:spPr>
          <a:xfrm>
            <a:off x="935280" y="1686960"/>
            <a:ext cx="16435440" cy="5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Click to edit the title text format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4800" b="0" strike="noStrike" spc="-2">
                <a:latin typeface="Arial"/>
              </a:rPr>
              <a:t>Click to edit the outline text format</a:t>
            </a:r>
          </a:p>
          <a:p>
            <a:pPr marL="1296000" lvl="1" indent="-486000">
              <a:spcBef>
                <a:spcPts val="17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4200" b="0" strike="noStrike" spc="-2">
                <a:latin typeface="Arial"/>
              </a:rPr>
              <a:t>Second Outline Level</a:t>
            </a:r>
          </a:p>
          <a:p>
            <a:pPr marL="1944000" lvl="2" indent="-432000">
              <a:spcBef>
                <a:spcPts val="1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600" b="0" strike="noStrike" spc="-2">
                <a:latin typeface="Arial"/>
              </a:rPr>
              <a:t>Third Outline Level</a:t>
            </a:r>
          </a:p>
          <a:p>
            <a:pPr marL="2592000" lvl="3" indent="-324000"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000" b="0" strike="noStrike" spc="-2">
                <a:latin typeface="Arial"/>
              </a:rPr>
              <a:t>Fourth Outline Level</a:t>
            </a:r>
          </a:p>
          <a:p>
            <a:pPr marL="3240000" lvl="4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Fifth Outline Level</a:t>
            </a:r>
          </a:p>
          <a:p>
            <a:pPr marL="3888000" lvl="5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Sixth Outline Level</a:t>
            </a:r>
          </a:p>
          <a:p>
            <a:pPr marL="4536000" lvl="6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77767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000" indent="-486000" algn="l" defTabSz="1371600" rtl="0" eaLnBrk="1" latinLnBrk="0" hangingPunct="1">
        <a:lnSpc>
          <a:spcPct val="90000"/>
        </a:lnSpc>
        <a:spcBef>
          <a:spcPts val="2126"/>
        </a:spcBef>
        <a:buClr>
          <a:srgbClr val="000000"/>
        </a:buClr>
        <a:buSzPct val="45000"/>
        <a:buFont typeface="Wingdings" charset="2"/>
        <a:buChar char="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10004040"/>
            <a:ext cx="18285120" cy="292680"/>
          </a:xfrm>
          <a:prstGeom prst="rect">
            <a:avLst/>
          </a:prstGeom>
          <a:solidFill>
            <a:srgbClr val="17365D">
              <a:alpha val="90000"/>
            </a:srgbClr>
          </a:solidFill>
          <a:ln w="25560">
            <a:solidFill>
              <a:srgbClr val="1736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2"/>
          <p:cNvSpPr/>
          <p:nvPr/>
        </p:nvSpPr>
        <p:spPr>
          <a:xfrm>
            <a:off x="0" y="-5940"/>
            <a:ext cx="18285120" cy="3963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3" name="Google Shape;27;p3"/>
          <p:cNvPicPr/>
          <p:nvPr/>
        </p:nvPicPr>
        <p:blipFill>
          <a:blip r:embed="rId14"/>
          <a:stretch/>
        </p:blipFill>
        <p:spPr>
          <a:xfrm>
            <a:off x="16515360" y="-6480"/>
            <a:ext cx="1698480" cy="395280"/>
          </a:xfrm>
          <a:prstGeom prst="rect">
            <a:avLst/>
          </a:prstGeom>
          <a:ln>
            <a:noFill/>
          </a:ln>
        </p:spPr>
      </p:pic>
      <p:sp>
        <p:nvSpPr>
          <p:cNvPr id="84" name="CustomShape 3"/>
          <p:cNvSpPr/>
          <p:nvPr/>
        </p:nvSpPr>
        <p:spPr>
          <a:xfrm>
            <a:off x="935280" y="1686960"/>
            <a:ext cx="16435440" cy="5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6600" b="0" strike="noStrike" spc="-2">
                <a:latin typeface="Arial"/>
              </a:rPr>
              <a:t>Click to edit the title text format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914400" y="2406780"/>
            <a:ext cx="16458480" cy="596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4800" b="0" strike="noStrike" spc="-2">
                <a:latin typeface="Arial"/>
              </a:rPr>
              <a:t>Click to edit the outline text format</a:t>
            </a:r>
          </a:p>
          <a:p>
            <a:pPr marL="1296000" lvl="1" indent="-486000">
              <a:spcBef>
                <a:spcPts val="17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4200" b="0" strike="noStrike" spc="-2">
                <a:latin typeface="Arial"/>
              </a:rPr>
              <a:t>Second Outline Level</a:t>
            </a:r>
          </a:p>
          <a:p>
            <a:pPr marL="1944000" lvl="2" indent="-432000">
              <a:spcBef>
                <a:spcPts val="1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600" b="0" strike="noStrike" spc="-2">
                <a:latin typeface="Arial"/>
              </a:rPr>
              <a:t>Third Outline Level</a:t>
            </a:r>
          </a:p>
          <a:p>
            <a:pPr marL="2592000" lvl="3" indent="-324000"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000" b="0" strike="noStrike" spc="-2">
                <a:latin typeface="Arial"/>
              </a:rPr>
              <a:t>Fourth Outline Level</a:t>
            </a:r>
          </a:p>
          <a:p>
            <a:pPr marL="3240000" lvl="4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Fifth Outline Level</a:t>
            </a:r>
          </a:p>
          <a:p>
            <a:pPr marL="3888000" lvl="5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Sixth Outline Level</a:t>
            </a:r>
          </a:p>
          <a:p>
            <a:pPr marL="4536000" lvl="6" indent="-324000">
              <a:spcBef>
                <a:spcPts val="42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000" b="0" strike="noStrike" spc="-2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63704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000" indent="-486000" algn="l" defTabSz="1371600" rtl="0" eaLnBrk="1" latinLnBrk="0" hangingPunct="1">
        <a:lnSpc>
          <a:spcPct val="90000"/>
        </a:lnSpc>
        <a:spcBef>
          <a:spcPts val="2126"/>
        </a:spcBef>
        <a:buClr>
          <a:srgbClr val="000000"/>
        </a:buClr>
        <a:buSzPct val="45000"/>
        <a:buFont typeface="Wingdings" charset="2"/>
        <a:buChar char="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5760" y="274320"/>
            <a:ext cx="17556480" cy="97383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4503" y="3086100"/>
            <a:ext cx="14809306" cy="60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4494" y="9335744"/>
            <a:ext cx="3493612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accent1"/>
                </a:solidFill>
              </a:defRPr>
            </a:lvl1pPr>
          </a:lstStyle>
          <a:p>
            <a:fld id="{34A43A2E-6632-4F9D-8728-2CF59ACBBE60}" type="datetimeFigureOut">
              <a:rPr lang="en-US" dirty="0"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3723" y="9335744"/>
            <a:ext cx="7076662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94297" y="9335744"/>
            <a:ext cx="255932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84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7175" indent="-205740" algn="l" defTabSz="1028700" rtl="0" eaLnBrk="1" latinLnBrk="0" hangingPunct="1">
        <a:lnSpc>
          <a:spcPct val="90000"/>
        </a:lnSpc>
        <a:spcBef>
          <a:spcPts val="1500"/>
        </a:spcBef>
        <a:buClr>
          <a:schemeClr val="accent1"/>
        </a:buClr>
        <a:buSzPct val="80000"/>
        <a:buFont typeface="Corbel" pitchFamily="34" charset="0"/>
        <a:buChar char="•"/>
        <a:defRPr sz="3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14350" indent="-205740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7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22960" indent="-205740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31570" indent="-205740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1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0180" indent="-205740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1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50000" indent="-257175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1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50000" indent="-257175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1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50000" indent="-257175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1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50000" indent="-257175" algn="l" defTabSz="1028700" rtl="0" eaLnBrk="1" latinLnBrk="0" hangingPunct="1">
        <a:lnSpc>
          <a:spcPct val="90000"/>
        </a:lnSpc>
        <a:spcBef>
          <a:spcPts val="225"/>
        </a:spcBef>
        <a:spcAft>
          <a:spcPts val="450"/>
        </a:spcAft>
        <a:buClr>
          <a:schemeClr val="accent1"/>
        </a:buClr>
        <a:buSzPct val="80000"/>
        <a:buFont typeface="Corbel" pitchFamily="34" charset="0"/>
        <a:buChar char="•"/>
        <a:defRPr sz="21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ctrTitle"/>
          </p:nvPr>
        </p:nvSpPr>
        <p:spPr>
          <a:xfrm>
            <a:off x="2895600" y="4686300"/>
            <a:ext cx="11286392" cy="238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pt-BR" sz="5400" spc="50" dirty="0"/>
              <a:t>Banco</a:t>
            </a:r>
            <a:r>
              <a:rPr lang="pt-BR" sz="5400" spc="-345" dirty="0"/>
              <a:t> </a:t>
            </a:r>
            <a:r>
              <a:rPr lang="pt-BR" sz="5400" spc="155" dirty="0"/>
              <a:t>de</a:t>
            </a:r>
            <a:r>
              <a:rPr lang="pt-BR" sz="5400" spc="-345" dirty="0"/>
              <a:t> </a:t>
            </a:r>
            <a:r>
              <a:rPr lang="pt-BR" sz="5400" spc="75" dirty="0"/>
              <a:t>dados</a:t>
            </a:r>
            <a:endParaRPr sz="2800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2" name="Picture 8" descr="Centro Universitário - Facens">
            <a:extLst>
              <a:ext uri="{FF2B5EF4-FFF2-40B4-BE49-F238E27FC236}">
                <a16:creationId xmlns:a16="http://schemas.microsoft.com/office/drawing/2014/main" id="{617CA013-0413-E7DF-9876-673E00DD6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872" y="1411402"/>
            <a:ext cx="714375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btítulo 13">
            <a:extLst>
              <a:ext uri="{FF2B5EF4-FFF2-40B4-BE49-F238E27FC236}">
                <a16:creationId xmlns:a16="http://schemas.microsoft.com/office/drawing/2014/main" id="{33873EBC-2B31-5FE5-26B1-712944DF6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29249" y="9238213"/>
            <a:ext cx="7410285" cy="1082124"/>
          </a:xfrm>
        </p:spPr>
        <p:txBody>
          <a:bodyPr>
            <a:normAutofit/>
          </a:bodyPr>
          <a:lstStyle/>
          <a:p>
            <a:r>
              <a:rPr lang="pt-BR" sz="3600" dirty="0"/>
              <a:t>Caio Eduardo do prado Ireno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1707" y="3759136"/>
            <a:ext cx="5781674" cy="5781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4869" y="257523"/>
            <a:ext cx="16438512" cy="977334"/>
          </a:xfrm>
          <a:prstGeom prst="rect">
            <a:avLst/>
          </a:prstGeom>
        </p:spPr>
        <p:txBody>
          <a:bodyPr vert="horz" wrap="square" lIns="0" tIns="488251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6000" spc="415" dirty="0"/>
              <a:t>O</a:t>
            </a:r>
            <a:r>
              <a:rPr sz="6000" spc="-335" dirty="0"/>
              <a:t> </a:t>
            </a:r>
            <a:r>
              <a:rPr sz="6000" dirty="0"/>
              <a:t>que</a:t>
            </a:r>
            <a:r>
              <a:rPr sz="6000" spc="-330" dirty="0"/>
              <a:t> </a:t>
            </a:r>
            <a:r>
              <a:rPr sz="6000" spc="200" dirty="0"/>
              <a:t>é</a:t>
            </a:r>
            <a:r>
              <a:rPr sz="6000" spc="-335" dirty="0"/>
              <a:t> </a:t>
            </a:r>
            <a:r>
              <a:rPr sz="6000" spc="-60" dirty="0"/>
              <a:t>um</a:t>
            </a:r>
            <a:r>
              <a:rPr sz="6000" spc="-330" dirty="0"/>
              <a:t> </a:t>
            </a:r>
            <a:r>
              <a:rPr sz="6000" spc="60" dirty="0"/>
              <a:t>Banco</a:t>
            </a:r>
            <a:r>
              <a:rPr sz="6000" spc="-335" dirty="0"/>
              <a:t> </a:t>
            </a:r>
            <a:r>
              <a:rPr sz="6000" spc="114" dirty="0"/>
              <a:t>de</a:t>
            </a:r>
            <a:r>
              <a:rPr sz="6000" spc="-330" dirty="0"/>
              <a:t> </a:t>
            </a:r>
            <a:r>
              <a:rPr sz="6000" spc="45" dirty="0"/>
              <a:t>Dados?</a:t>
            </a:r>
            <a:endParaRPr sz="6000" dirty="0"/>
          </a:p>
        </p:txBody>
      </p:sp>
      <p:sp>
        <p:nvSpPr>
          <p:cNvPr id="4" name="object 4"/>
          <p:cNvSpPr txBox="1"/>
          <p:nvPr/>
        </p:nvSpPr>
        <p:spPr>
          <a:xfrm>
            <a:off x="706134" y="1846916"/>
            <a:ext cx="14885669" cy="485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80" dirty="0">
                <a:latin typeface="Trebuchet MS"/>
                <a:cs typeface="Trebuchet MS"/>
              </a:rPr>
              <a:t>Um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coleção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organizada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informações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325" dirty="0">
                <a:latin typeface="Trebuchet MS"/>
                <a:cs typeface="Trebuchet MS"/>
              </a:rPr>
              <a:t>-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ou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- </a:t>
            </a:r>
            <a:r>
              <a:rPr sz="3200" spc="105" dirty="0">
                <a:latin typeface="Trebuchet MS"/>
                <a:cs typeface="Trebuchet MS"/>
              </a:rPr>
              <a:t>estruturadas,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normalmente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armazenadas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eletronicamente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sistema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80" dirty="0">
                <a:latin typeface="Trebuchet MS"/>
                <a:cs typeface="Trebuchet MS"/>
              </a:rPr>
              <a:t>computador.</a:t>
            </a:r>
            <a:endParaRPr sz="3200">
              <a:latin typeface="Trebuchet MS"/>
              <a:cs typeface="Trebuchet MS"/>
            </a:endParaRPr>
          </a:p>
          <a:p>
            <a:pPr marL="21590" marR="4709795">
              <a:lnSpc>
                <a:spcPct val="115199"/>
              </a:lnSpc>
              <a:spcBef>
                <a:spcPts val="2655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podem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facilmente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acessados, </a:t>
            </a:r>
            <a:r>
              <a:rPr sz="3200" spc="70" dirty="0">
                <a:latin typeface="Trebuchet MS"/>
                <a:cs typeface="Trebuchet MS"/>
              </a:rPr>
              <a:t>gerenciados,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modificados,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atualizados,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controlados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spc="70" dirty="0">
                <a:latin typeface="Trebuchet MS"/>
                <a:cs typeface="Trebuchet MS"/>
              </a:rPr>
              <a:t>organizados.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maioria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usa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a </a:t>
            </a:r>
            <a:r>
              <a:rPr sz="3200" b="1" spc="-10" dirty="0">
                <a:latin typeface="Arial"/>
                <a:cs typeface="Arial"/>
              </a:rPr>
              <a:t>linguagem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50" dirty="0">
                <a:latin typeface="Arial"/>
                <a:cs typeface="Arial"/>
              </a:rPr>
              <a:t>consulta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spc="190" dirty="0">
                <a:latin typeface="Arial"/>
                <a:cs typeface="Arial"/>
              </a:rPr>
              <a:t>estruturada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-135" dirty="0">
                <a:latin typeface="Arial"/>
                <a:cs typeface="Arial"/>
              </a:rPr>
              <a:t>(SQL)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para </a:t>
            </a:r>
            <a:r>
              <a:rPr sz="3200" spc="135" dirty="0">
                <a:latin typeface="Trebuchet MS"/>
                <a:cs typeface="Trebuchet MS"/>
              </a:rPr>
              <a:t>escrever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consultar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dados.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694" y="-45682"/>
            <a:ext cx="128257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2485" marR="5080" indent="-3360420">
              <a:lnSpc>
                <a:spcPct val="116700"/>
              </a:lnSpc>
              <a:spcBef>
                <a:spcPts val="95"/>
              </a:spcBef>
            </a:pPr>
            <a:r>
              <a:rPr sz="6000" spc="220" dirty="0"/>
              <a:t>Importância</a:t>
            </a:r>
            <a:r>
              <a:rPr sz="6000" spc="-300" dirty="0"/>
              <a:t> </a:t>
            </a:r>
            <a:r>
              <a:rPr sz="6000" spc="-20" dirty="0"/>
              <a:t>dos</a:t>
            </a:r>
            <a:r>
              <a:rPr sz="6000" spc="-295" dirty="0"/>
              <a:t> </a:t>
            </a:r>
            <a:r>
              <a:rPr sz="6000" dirty="0"/>
              <a:t>Bancos</a:t>
            </a:r>
            <a:r>
              <a:rPr sz="6000" spc="-300" dirty="0"/>
              <a:t> </a:t>
            </a:r>
            <a:r>
              <a:rPr sz="6000" spc="114" dirty="0"/>
              <a:t>de</a:t>
            </a:r>
            <a:r>
              <a:rPr sz="6000" spc="-295" dirty="0"/>
              <a:t> </a:t>
            </a:r>
            <a:r>
              <a:rPr sz="6000" spc="105" dirty="0"/>
              <a:t>Dados </a:t>
            </a:r>
            <a:r>
              <a:rPr sz="6000" spc="-114" dirty="0"/>
              <a:t>nos</a:t>
            </a:r>
            <a:r>
              <a:rPr sz="6000" spc="-330" dirty="0"/>
              <a:t> </a:t>
            </a:r>
            <a:r>
              <a:rPr sz="6000" spc="75" dirty="0"/>
              <a:t>Dias</a:t>
            </a:r>
            <a:r>
              <a:rPr sz="6000" spc="-325" dirty="0"/>
              <a:t> </a:t>
            </a:r>
            <a:r>
              <a:rPr sz="6000" spc="114" dirty="0"/>
              <a:t>de</a:t>
            </a:r>
            <a:r>
              <a:rPr sz="6000" spc="-330" dirty="0"/>
              <a:t> </a:t>
            </a:r>
            <a:r>
              <a:rPr sz="6000" spc="-20" dirty="0"/>
              <a:t>Hoje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17004" y="2894954"/>
            <a:ext cx="17623155" cy="631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00580" indent="474980" algn="just">
              <a:lnSpc>
                <a:spcPct val="115199"/>
              </a:lnSpc>
              <a:spcBef>
                <a:spcPts val="100"/>
              </a:spcBef>
              <a:buAutoNum type="arabicPlain"/>
              <a:tabLst>
                <a:tab pos="487680" algn="l"/>
              </a:tabLst>
            </a:pPr>
            <a:r>
              <a:rPr sz="3200" b="1" spc="105" dirty="0">
                <a:latin typeface="Arial"/>
                <a:cs typeface="Arial"/>
              </a:rPr>
              <a:t>Gerenciamento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spc="50" dirty="0">
                <a:latin typeface="Arial"/>
                <a:cs typeface="Arial"/>
              </a:rPr>
              <a:t>informações: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permitem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armazenar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spc="100" dirty="0">
                <a:latin typeface="Trebuchet MS"/>
                <a:cs typeface="Trebuchet MS"/>
              </a:rPr>
              <a:t>gerenciar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grandes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volumes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informações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maneira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organizada,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facilitando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o </a:t>
            </a:r>
            <a:r>
              <a:rPr sz="3200" spc="105" dirty="0">
                <a:latin typeface="Trebuchet MS"/>
                <a:cs typeface="Trebuchet MS"/>
              </a:rPr>
              <a:t>acesso,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atualização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análise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dados.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Arial"/>
              <a:buAutoNum type="arabicPlain"/>
            </a:pPr>
            <a:endParaRPr sz="3200">
              <a:latin typeface="Trebuchet MS"/>
              <a:cs typeface="Trebuchet MS"/>
            </a:endParaRPr>
          </a:p>
          <a:p>
            <a:pPr marL="12700" marR="5080" indent="510540">
              <a:lnSpc>
                <a:spcPct val="115199"/>
              </a:lnSpc>
              <a:spcBef>
                <a:spcPts val="5"/>
              </a:spcBef>
              <a:buAutoNum type="arabicPlain"/>
              <a:tabLst>
                <a:tab pos="523240" algn="l"/>
              </a:tabLst>
            </a:pPr>
            <a:r>
              <a:rPr sz="3200" b="1" spc="55" dirty="0">
                <a:latin typeface="Arial"/>
                <a:cs typeface="Arial"/>
              </a:rPr>
              <a:t>Produtividade: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aumentam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produtividade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funcionários, </a:t>
            </a:r>
            <a:r>
              <a:rPr sz="3200" spc="100" dirty="0">
                <a:latin typeface="Trebuchet MS"/>
                <a:cs typeface="Trebuchet MS"/>
              </a:rPr>
              <a:t>automatizando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tarefas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rotineiras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permitindo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rápido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acesso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às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informações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necessárias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realizar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suas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atividades.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Arial"/>
              <a:buAutoNum type="arabicPlain"/>
            </a:pPr>
            <a:endParaRPr sz="3200">
              <a:latin typeface="Trebuchet MS"/>
              <a:cs typeface="Trebuchet MS"/>
            </a:endParaRPr>
          </a:p>
          <a:p>
            <a:pPr marL="12700" marR="734695" indent="514984" algn="just">
              <a:lnSpc>
                <a:spcPct val="115199"/>
              </a:lnSpc>
              <a:buAutoNum type="arabicPlain"/>
              <a:tabLst>
                <a:tab pos="527685" algn="l"/>
              </a:tabLst>
            </a:pPr>
            <a:r>
              <a:rPr sz="3200" b="1" spc="95" dirty="0">
                <a:latin typeface="Arial"/>
                <a:cs typeface="Arial"/>
              </a:rPr>
              <a:t>Segurança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spc="120" dirty="0">
                <a:latin typeface="Arial"/>
                <a:cs typeface="Arial"/>
              </a:rPr>
              <a:t>e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spc="60" dirty="0">
                <a:latin typeface="Arial"/>
                <a:cs typeface="Arial"/>
              </a:rPr>
              <a:t>conformidade: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Bancos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bem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projetados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gerenciados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podem </a:t>
            </a:r>
            <a:r>
              <a:rPr sz="3200" dirty="0">
                <a:latin typeface="Trebuchet MS"/>
                <a:cs typeface="Trebuchet MS"/>
              </a:rPr>
              <a:t>ajudar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garantir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segurança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privacidade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10" dirty="0">
                <a:latin typeface="Trebuchet MS"/>
                <a:cs typeface="Trebuchet MS"/>
              </a:rPr>
              <a:t>das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informações,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bem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atender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aos </a:t>
            </a:r>
            <a:r>
              <a:rPr sz="3200" spc="65" dirty="0">
                <a:latin typeface="Trebuchet MS"/>
                <a:cs typeface="Trebuchet MS"/>
              </a:rPr>
              <a:t>requisitos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conformidade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regulatória.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694" y="-45681"/>
            <a:ext cx="128257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2485" marR="5080" indent="-3360420">
              <a:lnSpc>
                <a:spcPct val="116700"/>
              </a:lnSpc>
              <a:spcBef>
                <a:spcPts val="95"/>
              </a:spcBef>
            </a:pPr>
            <a:r>
              <a:rPr sz="6000" spc="220" dirty="0"/>
              <a:t>Importância</a:t>
            </a:r>
            <a:r>
              <a:rPr sz="6000" spc="-300" dirty="0"/>
              <a:t> </a:t>
            </a:r>
            <a:r>
              <a:rPr sz="6000" spc="-20" dirty="0"/>
              <a:t>dos</a:t>
            </a:r>
            <a:r>
              <a:rPr sz="6000" spc="-295" dirty="0"/>
              <a:t> </a:t>
            </a:r>
            <a:r>
              <a:rPr sz="6000" dirty="0"/>
              <a:t>Bancos</a:t>
            </a:r>
            <a:r>
              <a:rPr sz="6000" spc="-300" dirty="0"/>
              <a:t> </a:t>
            </a:r>
            <a:r>
              <a:rPr sz="6000" spc="114" dirty="0"/>
              <a:t>de</a:t>
            </a:r>
            <a:r>
              <a:rPr sz="6000" spc="-295" dirty="0"/>
              <a:t> </a:t>
            </a:r>
            <a:r>
              <a:rPr sz="6000" spc="105" dirty="0"/>
              <a:t>Dados </a:t>
            </a:r>
            <a:r>
              <a:rPr sz="6000" spc="-114" dirty="0"/>
              <a:t>nos</a:t>
            </a:r>
            <a:r>
              <a:rPr sz="6000" spc="-330" dirty="0"/>
              <a:t> </a:t>
            </a:r>
            <a:r>
              <a:rPr sz="6000" spc="75" dirty="0"/>
              <a:t>Dias</a:t>
            </a:r>
            <a:r>
              <a:rPr sz="6000" spc="-325" dirty="0"/>
              <a:t> </a:t>
            </a:r>
            <a:r>
              <a:rPr sz="6000" spc="114" dirty="0"/>
              <a:t>de</a:t>
            </a:r>
            <a:r>
              <a:rPr sz="6000" spc="-330" dirty="0"/>
              <a:t> </a:t>
            </a:r>
            <a:r>
              <a:rPr sz="6000" spc="-20" dirty="0"/>
              <a:t>Hoje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016000" y="2992724"/>
            <a:ext cx="16289655" cy="4392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 marR="5080" indent="518795">
              <a:lnSpc>
                <a:spcPct val="115199"/>
              </a:lnSpc>
              <a:spcBef>
                <a:spcPts val="100"/>
              </a:spcBef>
              <a:buAutoNum type="arabicPlain" startAt="4"/>
              <a:tabLst>
                <a:tab pos="631190" algn="l"/>
              </a:tabLst>
            </a:pPr>
            <a:r>
              <a:rPr sz="3200" b="1" spc="120" dirty="0">
                <a:latin typeface="Arial"/>
                <a:cs typeface="Arial"/>
              </a:rPr>
              <a:t>Controle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spc="85" dirty="0">
                <a:latin typeface="Arial"/>
                <a:cs typeface="Arial"/>
              </a:rPr>
              <a:t>estoque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spc="120" dirty="0">
                <a:latin typeface="Arial"/>
                <a:cs typeface="Arial"/>
              </a:rPr>
              <a:t>e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logística: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ajudam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gerenciamento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estoques,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rastreamento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produtos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planejamento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logística,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garantindo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que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produtos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estejam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disponíveis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quando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necessário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otimizando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cadeia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-10" dirty="0">
                <a:latin typeface="Trebuchet MS"/>
                <a:cs typeface="Trebuchet MS"/>
              </a:rPr>
              <a:t>suprimentos.</a:t>
            </a:r>
            <a:endParaRPr sz="3200">
              <a:latin typeface="Trebuchet MS"/>
              <a:cs typeface="Trebuchet MS"/>
            </a:endParaRPr>
          </a:p>
          <a:p>
            <a:pPr marL="12700" marR="1061085" indent="519430">
              <a:lnSpc>
                <a:spcPct val="115199"/>
              </a:lnSpc>
              <a:spcBef>
                <a:spcPts val="3415"/>
              </a:spcBef>
              <a:buAutoNum type="arabicPlain" startAt="4"/>
              <a:tabLst>
                <a:tab pos="532130" algn="l"/>
              </a:tabLst>
            </a:pPr>
            <a:r>
              <a:rPr sz="3200" b="1" spc="-10" dirty="0">
                <a:latin typeface="Arial"/>
                <a:cs typeface="Arial"/>
              </a:rPr>
              <a:t>Análise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spc="120" dirty="0">
                <a:latin typeface="Arial"/>
                <a:cs typeface="Arial"/>
              </a:rPr>
              <a:t>e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inteligência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negócios: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A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análise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 </a:t>
            </a:r>
            <a:r>
              <a:rPr sz="3200" spc="55" dirty="0">
                <a:latin typeface="Trebuchet MS"/>
                <a:cs typeface="Trebuchet MS"/>
              </a:rPr>
              <a:t>permite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empresas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identifiquem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tendências,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padrões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oportunidades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50" dirty="0">
                <a:latin typeface="Trebuchet MS"/>
                <a:cs typeface="Trebuchet MS"/>
              </a:rPr>
              <a:t>negócios,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melhorando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tomada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decisões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estratégicas.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6145282"/>
            <a:ext cx="8791574" cy="3924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0036" y="376935"/>
            <a:ext cx="95948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5" dirty="0"/>
              <a:t>Tipos</a:t>
            </a:r>
            <a:r>
              <a:rPr sz="6000" spc="-335" dirty="0"/>
              <a:t> </a:t>
            </a:r>
            <a:r>
              <a:rPr sz="6000" spc="114" dirty="0"/>
              <a:t>de</a:t>
            </a:r>
            <a:r>
              <a:rPr sz="6000" spc="-330" dirty="0"/>
              <a:t> </a:t>
            </a:r>
            <a:r>
              <a:rPr sz="6000" spc="55" dirty="0"/>
              <a:t>bancos</a:t>
            </a:r>
            <a:r>
              <a:rPr sz="6000" spc="-330" dirty="0"/>
              <a:t> </a:t>
            </a:r>
            <a:r>
              <a:rPr sz="6000" spc="114" dirty="0"/>
              <a:t>de</a:t>
            </a:r>
            <a:r>
              <a:rPr sz="6000" spc="-330" dirty="0"/>
              <a:t> </a:t>
            </a:r>
            <a:r>
              <a:rPr sz="6000" spc="60" dirty="0"/>
              <a:t>dados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540036" y="1503409"/>
            <a:ext cx="17749520" cy="702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1102360" indent="184150">
              <a:lnSpc>
                <a:spcPct val="115199"/>
              </a:lnSpc>
              <a:spcBef>
                <a:spcPts val="100"/>
              </a:spcBef>
            </a:pPr>
            <a:r>
              <a:rPr sz="3200" spc="50" dirty="0">
                <a:latin typeface="Trebuchet MS"/>
                <a:cs typeface="Trebuchet MS"/>
              </a:rPr>
              <a:t>Existem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muitos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tipos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diferentes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dados.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melhor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para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organização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específica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depende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organização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pretende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usar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dados.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4800" b="1" dirty="0">
                <a:latin typeface="Arial"/>
                <a:cs typeface="Arial"/>
              </a:rPr>
              <a:t>Bancos</a:t>
            </a:r>
            <a:r>
              <a:rPr sz="4800" b="1" spc="-225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20" dirty="0">
                <a:latin typeface="Arial"/>
                <a:cs typeface="Arial"/>
              </a:rPr>
              <a:t> </a:t>
            </a:r>
            <a:r>
              <a:rPr sz="4800" b="1" spc="55" dirty="0">
                <a:latin typeface="Arial"/>
                <a:cs typeface="Arial"/>
              </a:rPr>
              <a:t>dados</a:t>
            </a:r>
            <a:r>
              <a:rPr sz="4800" b="1" spc="-220" dirty="0">
                <a:latin typeface="Arial"/>
                <a:cs typeface="Arial"/>
              </a:rPr>
              <a:t> </a:t>
            </a:r>
            <a:r>
              <a:rPr sz="4800" b="1" spc="50" dirty="0">
                <a:latin typeface="Arial"/>
                <a:cs typeface="Arial"/>
              </a:rPr>
              <a:t>relacionais</a:t>
            </a:r>
            <a:endParaRPr sz="4800">
              <a:latin typeface="Arial"/>
              <a:cs typeface="Arial"/>
            </a:endParaRPr>
          </a:p>
          <a:p>
            <a:pPr marL="12700" marR="5080">
              <a:lnSpc>
                <a:spcPct val="115199"/>
              </a:lnSpc>
              <a:spcBef>
                <a:spcPts val="1545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relacionais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baseados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modelo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relacional.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Nesse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modelo,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organizados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tabelas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linhas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colunas.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280" dirty="0">
                <a:latin typeface="Trebuchet MS"/>
                <a:cs typeface="Trebuchet MS"/>
              </a:rPr>
              <a:t>Cada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tabela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representa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entidade,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a </a:t>
            </a:r>
            <a:r>
              <a:rPr sz="3200" spc="95" dirty="0">
                <a:latin typeface="Trebuchet MS"/>
                <a:cs typeface="Trebuchet MS"/>
              </a:rPr>
              <a:t>relações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entre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entidades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estabelecidas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por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meio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chaves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primárias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chaves </a:t>
            </a:r>
            <a:r>
              <a:rPr sz="3200" spc="65" dirty="0">
                <a:latin typeface="Trebuchet MS"/>
                <a:cs typeface="Trebuchet MS"/>
              </a:rPr>
              <a:t>estrangeiras.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9966960" algn="just">
              <a:lnSpc>
                <a:spcPct val="115199"/>
              </a:lnSpc>
            </a:pPr>
            <a:r>
              <a:rPr sz="3200" spc="55" dirty="0">
                <a:latin typeface="Trebuchet MS"/>
                <a:cs typeface="Trebuchet MS"/>
              </a:rPr>
              <a:t>Exemplos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populares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 </a:t>
            </a:r>
            <a:r>
              <a:rPr sz="3200" dirty="0">
                <a:latin typeface="Trebuchet MS"/>
                <a:cs typeface="Trebuchet MS"/>
              </a:rPr>
              <a:t>relacionais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incluem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MySQL,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PostgreSQL,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Server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Oracle.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0379" y="5334035"/>
            <a:ext cx="10906124" cy="45434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4744" y="203766"/>
            <a:ext cx="16438512" cy="977334"/>
          </a:xfrm>
          <a:prstGeom prst="rect">
            <a:avLst/>
          </a:prstGeom>
        </p:spPr>
        <p:txBody>
          <a:bodyPr vert="horz" wrap="square" lIns="0" tIns="597789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904D"/>
                </a:solidFill>
              </a:rPr>
              <a:t>Bancos</a:t>
            </a:r>
            <a:r>
              <a:rPr spc="-240" dirty="0">
                <a:solidFill>
                  <a:srgbClr val="FF904D"/>
                </a:solidFill>
              </a:rPr>
              <a:t> </a:t>
            </a:r>
            <a:r>
              <a:rPr spc="90" dirty="0">
                <a:solidFill>
                  <a:srgbClr val="FF904D"/>
                </a:solidFill>
              </a:rPr>
              <a:t>de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85" dirty="0">
                <a:solidFill>
                  <a:srgbClr val="FF904D"/>
                </a:solidFill>
              </a:rPr>
              <a:t>Dados</a:t>
            </a:r>
            <a:r>
              <a:rPr spc="-240" dirty="0">
                <a:solidFill>
                  <a:srgbClr val="FF904D"/>
                </a:solidFill>
              </a:rPr>
              <a:t> </a:t>
            </a:r>
            <a:r>
              <a:rPr spc="170" dirty="0">
                <a:solidFill>
                  <a:srgbClr val="FF904D"/>
                </a:solidFill>
              </a:rPr>
              <a:t>Orientados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345" dirty="0">
                <a:solidFill>
                  <a:srgbClr val="FF904D"/>
                </a:solidFill>
              </a:rPr>
              <a:t>a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55" dirty="0">
                <a:solidFill>
                  <a:srgbClr val="FF904D"/>
                </a:solidFill>
              </a:rPr>
              <a:t>Objetos: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0503" y="1566569"/>
            <a:ext cx="16700500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orientados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objetos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foram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projetados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lidar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objetos </a:t>
            </a:r>
            <a:r>
              <a:rPr sz="3200" spc="80" dirty="0">
                <a:latin typeface="Trebuchet MS"/>
                <a:cs typeface="Trebuchet MS"/>
              </a:rPr>
              <a:t>complexos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suas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inter-</a:t>
            </a:r>
            <a:r>
              <a:rPr sz="3200" dirty="0">
                <a:latin typeface="Trebuchet MS"/>
                <a:cs typeface="Trebuchet MS"/>
              </a:rPr>
              <a:t>relações.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permitem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armazenar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não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apenas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 </a:t>
            </a:r>
            <a:r>
              <a:rPr sz="3200" spc="-20" dirty="0">
                <a:latin typeface="Trebuchet MS"/>
                <a:cs typeface="Trebuchet MS"/>
              </a:rPr>
              <a:t>primitivos,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mas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também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estruturas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complexas,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objetos,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herança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spc="45" dirty="0">
                <a:latin typeface="Trebuchet MS"/>
                <a:cs typeface="Trebuchet MS"/>
              </a:rPr>
              <a:t>encapsulamento.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especialmente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útil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cenários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programação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orientada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a </a:t>
            </a:r>
            <a:r>
              <a:rPr sz="3200" dirty="0">
                <a:latin typeface="Trebuchet MS"/>
                <a:cs typeface="Trebuchet MS"/>
              </a:rPr>
              <a:t>objetos,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onde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objetos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programa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podem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diretamente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mapeados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objetos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dados.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Alguns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exemplos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ObjectDB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db4o.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290" y="5600700"/>
            <a:ext cx="9496424" cy="4286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3246" y="218980"/>
            <a:ext cx="16438512" cy="977334"/>
          </a:xfrm>
          <a:prstGeom prst="rect">
            <a:avLst/>
          </a:prstGeom>
        </p:spPr>
        <p:txBody>
          <a:bodyPr vert="horz" wrap="square" lIns="0" tIns="597789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904D"/>
                </a:solidFill>
              </a:rPr>
              <a:t>Bancos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90" dirty="0">
                <a:solidFill>
                  <a:srgbClr val="FF904D"/>
                </a:solidFill>
              </a:rPr>
              <a:t>de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85" dirty="0">
                <a:solidFill>
                  <a:srgbClr val="FF904D"/>
                </a:solidFill>
              </a:rPr>
              <a:t>Dados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100" dirty="0">
                <a:solidFill>
                  <a:srgbClr val="FF904D"/>
                </a:solidFill>
              </a:rPr>
              <a:t>em</a:t>
            </a:r>
            <a:r>
              <a:rPr spc="-235" dirty="0">
                <a:solidFill>
                  <a:srgbClr val="FF904D"/>
                </a:solidFill>
              </a:rPr>
              <a:t> </a:t>
            </a:r>
            <a:r>
              <a:rPr spc="-10" dirty="0">
                <a:solidFill>
                  <a:srgbClr val="FF904D"/>
                </a:solidFill>
              </a:rPr>
              <a:t>Nuvem: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1699882"/>
            <a:ext cx="16963390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19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nuvem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hospedados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gerenciados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plataformas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165" dirty="0">
                <a:latin typeface="Trebuchet MS"/>
                <a:cs typeface="Trebuchet MS"/>
              </a:rPr>
              <a:t>computação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nuvem,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Arial"/>
                <a:cs typeface="Arial"/>
              </a:rPr>
              <a:t>Amazon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b="1" spc="240" dirty="0">
                <a:latin typeface="Arial"/>
                <a:cs typeface="Arial"/>
              </a:rPr>
              <a:t>Web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b="1" spc="70" dirty="0">
                <a:latin typeface="Arial"/>
                <a:cs typeface="Arial"/>
              </a:rPr>
              <a:t>Services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b="1" spc="-120" dirty="0">
                <a:latin typeface="Arial"/>
                <a:cs typeface="Arial"/>
              </a:rPr>
              <a:t>(AWS</a:t>
            </a:r>
            <a:r>
              <a:rPr sz="3200" spc="-120" dirty="0">
                <a:latin typeface="Trebuchet MS"/>
                <a:cs typeface="Trebuchet MS"/>
              </a:rPr>
              <a:t>),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b="1" spc="175" dirty="0">
                <a:latin typeface="Arial"/>
                <a:cs typeface="Arial"/>
              </a:rPr>
              <a:t>Microsoft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b="1" spc="90" dirty="0">
                <a:latin typeface="Arial"/>
                <a:cs typeface="Arial"/>
              </a:rPr>
              <a:t>Azure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b="1" dirty="0">
                <a:latin typeface="Arial"/>
                <a:cs typeface="Arial"/>
              </a:rPr>
              <a:t>Google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Cloud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100" dirty="0">
                <a:latin typeface="Arial"/>
                <a:cs typeface="Arial"/>
              </a:rPr>
              <a:t>Platform</a:t>
            </a:r>
            <a:r>
              <a:rPr sz="3200" spc="100" dirty="0">
                <a:latin typeface="Trebuchet MS"/>
                <a:cs typeface="Trebuchet MS"/>
              </a:rPr>
              <a:t>.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Eles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oferecem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recursos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escaláveis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serviços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gerenciados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para </a:t>
            </a:r>
            <a:r>
              <a:rPr sz="3200" spc="130" dirty="0">
                <a:latin typeface="Trebuchet MS"/>
                <a:cs typeface="Trebuchet MS"/>
              </a:rPr>
              <a:t>armazenar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acessar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dados.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85" dirty="0">
                <a:latin typeface="Trebuchet MS"/>
                <a:cs typeface="Trebuchet MS"/>
              </a:rPr>
              <a:t> elimina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necessidade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gerenciar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infraestrutura </a:t>
            </a:r>
            <a:r>
              <a:rPr sz="3200" dirty="0">
                <a:latin typeface="Trebuchet MS"/>
                <a:cs typeface="Trebuchet MS"/>
              </a:rPr>
              <a:t>subjacente,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permitindo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equipes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concentrem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desenvolvimento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dirty="0">
                <a:latin typeface="Trebuchet MS"/>
                <a:cs typeface="Trebuchet MS"/>
              </a:rPr>
              <a:t>aplicativos.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Exemplos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incluem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Amazon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RDS,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Azure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Database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Google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Cloud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SQL.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845" y="5698155"/>
            <a:ext cx="11944349" cy="3990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1166" y="266700"/>
            <a:ext cx="16438512" cy="977334"/>
          </a:xfrm>
          <a:prstGeom prst="rect">
            <a:avLst/>
          </a:prstGeom>
        </p:spPr>
        <p:txBody>
          <a:bodyPr vert="horz" wrap="square" lIns="0" tIns="597789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904D"/>
                </a:solidFill>
              </a:rPr>
              <a:t>Bancos</a:t>
            </a:r>
            <a:r>
              <a:rPr spc="-225" dirty="0">
                <a:solidFill>
                  <a:srgbClr val="FF904D"/>
                </a:solidFill>
              </a:rPr>
              <a:t> </a:t>
            </a:r>
            <a:r>
              <a:rPr spc="90" dirty="0">
                <a:solidFill>
                  <a:srgbClr val="FF904D"/>
                </a:solidFill>
              </a:rPr>
              <a:t>de</a:t>
            </a:r>
            <a:r>
              <a:rPr spc="-225" dirty="0">
                <a:solidFill>
                  <a:srgbClr val="FF904D"/>
                </a:solidFill>
              </a:rPr>
              <a:t> </a:t>
            </a:r>
            <a:r>
              <a:rPr spc="85" dirty="0">
                <a:solidFill>
                  <a:srgbClr val="FF904D"/>
                </a:solidFill>
              </a:rPr>
              <a:t>Dados</a:t>
            </a:r>
            <a:r>
              <a:rPr spc="-220" dirty="0">
                <a:solidFill>
                  <a:srgbClr val="FF904D"/>
                </a:solidFill>
              </a:rPr>
              <a:t> </a:t>
            </a:r>
            <a:r>
              <a:rPr spc="-10" dirty="0">
                <a:solidFill>
                  <a:srgbClr val="FF904D"/>
                </a:solidFill>
              </a:rPr>
              <a:t>NoSQL: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6835" y="1699880"/>
            <a:ext cx="16767175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225" dirty="0">
                <a:latin typeface="Trebuchet MS"/>
                <a:cs typeface="Trebuchet MS"/>
              </a:rPr>
              <a:t>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categoria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35" dirty="0">
                <a:solidFill>
                  <a:srgbClr val="FF904D"/>
                </a:solidFill>
                <a:latin typeface="Trebuchet MS"/>
                <a:cs typeface="Trebuchet MS"/>
              </a:rPr>
              <a:t>NoSQL</a:t>
            </a:r>
            <a:r>
              <a:rPr sz="3200" spc="-85" dirty="0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(Not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Only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SQL)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engloba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variedade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não </a:t>
            </a:r>
            <a:r>
              <a:rPr sz="3200" spc="165" dirty="0">
                <a:latin typeface="Trebuchet MS"/>
                <a:cs typeface="Trebuchet MS"/>
              </a:rPr>
              <a:t>se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encaixam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modelo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relacional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tradicional.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Eles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foram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projetados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atender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a </a:t>
            </a:r>
            <a:r>
              <a:rPr sz="3200" spc="85" dirty="0">
                <a:latin typeface="Trebuchet MS"/>
                <a:cs typeface="Trebuchet MS"/>
              </a:rPr>
              <a:t>diferentes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necessidades,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904D"/>
                </a:solidFill>
                <a:latin typeface="Trebuchet MS"/>
                <a:cs typeface="Trebuchet MS"/>
              </a:rPr>
              <a:t>escalabilidade</a:t>
            </a:r>
            <a:r>
              <a:rPr sz="3200" dirty="0">
                <a:latin typeface="Trebuchet MS"/>
                <a:cs typeface="Trebuchet MS"/>
              </a:rPr>
              <a:t>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904D"/>
                </a:solidFill>
                <a:latin typeface="Trebuchet MS"/>
                <a:cs typeface="Trebuchet MS"/>
              </a:rPr>
              <a:t>flexibilidade</a:t>
            </a:r>
            <a:r>
              <a:rPr sz="3200" spc="-105" dirty="0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esquema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dirty="0">
                <a:solidFill>
                  <a:srgbClr val="FF904D"/>
                </a:solidFill>
                <a:latin typeface="Trebuchet MS"/>
                <a:cs typeface="Trebuchet MS"/>
              </a:rPr>
              <a:t>baixa</a:t>
            </a:r>
            <a:r>
              <a:rPr sz="3200" spc="-85" dirty="0">
                <a:solidFill>
                  <a:srgbClr val="FF904D"/>
                </a:solidFill>
                <a:latin typeface="Trebuchet MS"/>
                <a:cs typeface="Trebuchet MS"/>
              </a:rPr>
              <a:t> </a:t>
            </a:r>
            <a:r>
              <a:rPr sz="3200" spc="-30" dirty="0">
                <a:solidFill>
                  <a:srgbClr val="FF904D"/>
                </a:solidFill>
                <a:latin typeface="Trebuchet MS"/>
                <a:cs typeface="Trebuchet MS"/>
              </a:rPr>
              <a:t>latência</a:t>
            </a:r>
            <a:r>
              <a:rPr sz="3200" spc="-30" dirty="0">
                <a:latin typeface="Trebuchet MS"/>
                <a:cs typeface="Trebuchet MS"/>
              </a:rPr>
              <a:t>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incluem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várias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subcategorias,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bancos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documentos,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colunas,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chave-</a:t>
            </a:r>
            <a:r>
              <a:rPr sz="3200" spc="50" dirty="0">
                <a:latin typeface="Trebuchet MS"/>
                <a:cs typeface="Trebuchet MS"/>
              </a:rPr>
              <a:t>valor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grafos.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Exemplos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populares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são </a:t>
            </a:r>
            <a:r>
              <a:rPr sz="3200" spc="254" dirty="0">
                <a:latin typeface="Trebuchet MS"/>
                <a:cs typeface="Trebuchet MS"/>
              </a:rPr>
              <a:t>MongoDB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(documento),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Cassandra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(coluna),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Redis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(chave-</a:t>
            </a:r>
            <a:r>
              <a:rPr sz="3200" spc="-20" dirty="0">
                <a:latin typeface="Trebuchet MS"/>
                <a:cs typeface="Trebuchet MS"/>
              </a:rPr>
              <a:t>valor)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Neo4j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(grafo).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949" y="5066740"/>
            <a:ext cx="16425544" cy="2172335"/>
          </a:xfrm>
          <a:prstGeom prst="rect">
            <a:avLst/>
          </a:prstGeom>
          <a:solidFill>
            <a:srgbClr val="F9C8C8"/>
          </a:solidFill>
        </p:spPr>
        <p:txBody>
          <a:bodyPr vert="horz" wrap="square" lIns="0" tIns="105410" rIns="0" bIns="0" rtlCol="0">
            <a:spAutoFit/>
          </a:bodyPr>
          <a:lstStyle/>
          <a:p>
            <a:pPr marL="198120" marR="241300">
              <a:lnSpc>
                <a:spcPct val="115199"/>
              </a:lnSpc>
              <a:spcBef>
                <a:spcPts val="830"/>
              </a:spcBef>
            </a:pPr>
            <a:r>
              <a:rPr sz="3200" b="1" spc="-90" dirty="0">
                <a:latin typeface="Arial"/>
                <a:cs typeface="Arial"/>
              </a:rPr>
              <a:t>SQL:</a:t>
            </a:r>
            <a:r>
              <a:rPr sz="3200" b="1" spc="-160" dirty="0">
                <a:latin typeface="Arial"/>
                <a:cs typeface="Arial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Bancos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relacionais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têm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esquemas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rígidos,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significa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precisa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definir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estrutura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tabela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antecedência.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280" dirty="0">
                <a:latin typeface="Trebuchet MS"/>
                <a:cs typeface="Trebuchet MS"/>
              </a:rPr>
              <a:t>Cada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coluna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tem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tipo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dado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predefinido.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949" y="7414724"/>
            <a:ext cx="16425544" cy="2172335"/>
          </a:xfrm>
          <a:prstGeom prst="rect">
            <a:avLst/>
          </a:prstGeom>
          <a:solidFill>
            <a:srgbClr val="F9C8C8"/>
          </a:solidFill>
        </p:spPr>
        <p:txBody>
          <a:bodyPr vert="horz" wrap="square" lIns="0" tIns="5080" rIns="0" bIns="0" rtlCol="0">
            <a:spAutoFit/>
          </a:bodyPr>
          <a:lstStyle/>
          <a:p>
            <a:pPr marL="198120" marR="146685">
              <a:lnSpc>
                <a:spcPct val="115199"/>
              </a:lnSpc>
              <a:spcBef>
                <a:spcPts val="40"/>
              </a:spcBef>
            </a:pPr>
            <a:r>
              <a:rPr sz="3200" b="1" spc="-40" dirty="0">
                <a:latin typeface="Arial"/>
                <a:cs typeface="Arial"/>
              </a:rPr>
              <a:t>NoSQL: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Bancos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NoSQL,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documentos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ou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chave- </a:t>
            </a:r>
            <a:r>
              <a:rPr sz="3200" spc="-20" dirty="0">
                <a:latin typeface="Trebuchet MS"/>
                <a:cs typeface="Trebuchet MS"/>
              </a:rPr>
              <a:t>valor,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oferecem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esquemas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flexíveis.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permite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adicione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campos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aos </a:t>
            </a:r>
            <a:r>
              <a:rPr sz="3200" spc="135" dirty="0">
                <a:latin typeface="Trebuchet MS"/>
                <a:cs typeface="Trebuchet MS"/>
              </a:rPr>
              <a:t>documentos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sem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estrutura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rígida.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249" y="1889000"/>
            <a:ext cx="15878810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225" dirty="0">
                <a:latin typeface="Trebuchet MS"/>
                <a:cs typeface="Trebuchet MS"/>
              </a:rPr>
              <a:t>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diferença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entre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40" dirty="0">
                <a:latin typeface="Trebuchet MS"/>
                <a:cs typeface="Trebuchet MS"/>
              </a:rPr>
              <a:t>(relacionais)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é </a:t>
            </a:r>
            <a:r>
              <a:rPr sz="3200" spc="75" dirty="0">
                <a:latin typeface="Trebuchet MS"/>
                <a:cs typeface="Trebuchet MS"/>
              </a:rPr>
              <a:t>substancial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envolve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vários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aspectos,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b="1" spc="-70" dirty="0">
                <a:latin typeface="Arial"/>
                <a:cs typeface="Arial"/>
              </a:rPr>
              <a:t>incluindo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50" dirty="0">
                <a:latin typeface="Arial"/>
                <a:cs typeface="Arial"/>
              </a:rPr>
              <a:t>esquema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dados</a:t>
            </a:r>
            <a:r>
              <a:rPr sz="3200" spc="-25" dirty="0">
                <a:latin typeface="Trebuchet MS"/>
                <a:cs typeface="Trebuchet MS"/>
              </a:rPr>
              <a:t>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Arial"/>
                <a:cs typeface="Arial"/>
              </a:rPr>
              <a:t>modelo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50" dirty="0">
                <a:latin typeface="Arial"/>
                <a:cs typeface="Arial"/>
              </a:rPr>
              <a:t>de </a:t>
            </a:r>
            <a:r>
              <a:rPr sz="3200" b="1" spc="90" dirty="0">
                <a:latin typeface="Arial"/>
                <a:cs typeface="Arial"/>
              </a:rPr>
              <a:t>armazenamento</a:t>
            </a:r>
            <a:r>
              <a:rPr sz="3200" spc="90" dirty="0">
                <a:latin typeface="Trebuchet MS"/>
                <a:cs typeface="Trebuchet MS"/>
              </a:rPr>
              <a:t>,</a:t>
            </a:r>
            <a:r>
              <a:rPr sz="3200" spc="4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Arial"/>
                <a:cs typeface="Arial"/>
              </a:rPr>
              <a:t>consultas</a:t>
            </a:r>
            <a:r>
              <a:rPr sz="3200" b="1" spc="125" dirty="0">
                <a:latin typeface="Arial"/>
                <a:cs typeface="Arial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características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baixa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b="1" spc="80" dirty="0">
                <a:latin typeface="Arial"/>
                <a:cs typeface="Arial"/>
              </a:rPr>
              <a:t>latência,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flexibilidade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spc="70" dirty="0">
                <a:latin typeface="Arial"/>
                <a:cs typeface="Arial"/>
              </a:rPr>
              <a:t>e </a:t>
            </a:r>
            <a:r>
              <a:rPr sz="3200" b="1" spc="-10" dirty="0">
                <a:latin typeface="Arial"/>
                <a:cs typeface="Arial"/>
              </a:rPr>
              <a:t>escalabilidade.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1249" y="554037"/>
            <a:ext cx="41503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904D"/>
                </a:solidFill>
              </a:rPr>
              <a:t>SQL</a:t>
            </a:r>
            <a:r>
              <a:rPr spc="-300" dirty="0">
                <a:solidFill>
                  <a:srgbClr val="FF904D"/>
                </a:solidFill>
              </a:rPr>
              <a:t> </a:t>
            </a:r>
            <a:r>
              <a:rPr spc="130" dirty="0">
                <a:solidFill>
                  <a:srgbClr val="FF904D"/>
                </a:solidFill>
              </a:rPr>
              <a:t>x</a:t>
            </a:r>
            <a:r>
              <a:rPr spc="-295" dirty="0">
                <a:solidFill>
                  <a:srgbClr val="FF904D"/>
                </a:solidFill>
              </a:rPr>
              <a:t> </a:t>
            </a:r>
            <a:r>
              <a:rPr spc="-25" dirty="0">
                <a:solidFill>
                  <a:srgbClr val="FF904D"/>
                </a:solidFill>
              </a:rPr>
              <a:t>NoSQL: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797630"/>
            <a:ext cx="57975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45" dirty="0"/>
              <a:t>Baixa</a:t>
            </a:r>
            <a:r>
              <a:rPr sz="6000" spc="-335" dirty="0"/>
              <a:t> </a:t>
            </a:r>
            <a:r>
              <a:rPr sz="6000" spc="80" dirty="0"/>
              <a:t>Latência: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016000" y="2165368"/>
            <a:ext cx="16118205" cy="681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154305">
              <a:lnSpc>
                <a:spcPct val="115199"/>
              </a:lnSpc>
              <a:spcBef>
                <a:spcPts val="100"/>
              </a:spcBef>
            </a:pPr>
            <a:r>
              <a:rPr sz="3200" dirty="0">
                <a:latin typeface="Trebuchet MS"/>
                <a:cs typeface="Trebuchet MS"/>
              </a:rPr>
              <a:t>Geralmente,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projetados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oferecer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baixa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latência,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significa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eles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podem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recuperar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fornecer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rapidamente.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é </a:t>
            </a:r>
            <a:r>
              <a:rPr sz="3200" spc="50" dirty="0">
                <a:latin typeface="Trebuchet MS"/>
                <a:cs typeface="Trebuchet MS"/>
              </a:rPr>
              <a:t>especialmente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importante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aplicativos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exigem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respostas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rápidas,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como </a:t>
            </a:r>
            <a:r>
              <a:rPr sz="3200" spc="130" dirty="0">
                <a:latin typeface="Trebuchet MS"/>
                <a:cs typeface="Trebuchet MS"/>
              </a:rPr>
              <a:t>sistemas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tempo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real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aplicativos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web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interativos.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6000" b="1" spc="-10" dirty="0">
                <a:latin typeface="Arial"/>
                <a:cs typeface="Arial"/>
              </a:rPr>
              <a:t>Flexibilidade:</a:t>
            </a:r>
            <a:endParaRPr sz="6000">
              <a:latin typeface="Arial"/>
              <a:cs typeface="Arial"/>
            </a:endParaRPr>
          </a:p>
          <a:p>
            <a:pPr marL="12700" marR="5080">
              <a:lnSpc>
                <a:spcPct val="115199"/>
              </a:lnSpc>
              <a:spcBef>
                <a:spcPts val="2815"/>
              </a:spcBef>
            </a:pPr>
            <a:r>
              <a:rPr sz="3200" spc="195" dirty="0">
                <a:latin typeface="Trebuchet MS"/>
                <a:cs typeface="Trebuchet MS"/>
              </a:rPr>
              <a:t>Bancos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NoSQL,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devido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à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sua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natureza</a:t>
            </a:r>
            <a:r>
              <a:rPr sz="3200" spc="-90" dirty="0">
                <a:latin typeface="Trebuchet MS"/>
                <a:cs typeface="Trebuchet MS"/>
              </a:rPr>
              <a:t> flexível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esquema,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permitem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que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adicione,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altere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remova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campos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sem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necessidade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migrações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complexas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esquema.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útil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quando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requisitos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estão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constante  </a:t>
            </a:r>
            <a:r>
              <a:rPr sz="3200" spc="-10" dirty="0">
                <a:latin typeface="Trebuchet MS"/>
                <a:cs typeface="Trebuchet MS"/>
              </a:rPr>
              <a:t>evolução.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324" y="3019424"/>
            <a:ext cx="104774" cy="104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324" y="6391274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06860" y="2678417"/>
            <a:ext cx="15321915" cy="5083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7340">
              <a:lnSpc>
                <a:spcPct val="115199"/>
              </a:lnSpc>
              <a:spcBef>
                <a:spcPts val="100"/>
              </a:spcBef>
            </a:pPr>
            <a:r>
              <a:rPr sz="3200" spc="100" dirty="0">
                <a:latin typeface="Trebuchet MS"/>
                <a:cs typeface="Trebuchet MS"/>
              </a:rPr>
              <a:t>NoSQL: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Muitos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foram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projetados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escalar </a:t>
            </a:r>
            <a:r>
              <a:rPr sz="3200" dirty="0">
                <a:latin typeface="Trebuchet MS"/>
                <a:cs typeface="Trebuchet MS"/>
              </a:rPr>
              <a:t>horizontalmente,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significa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adicionar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servidores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para </a:t>
            </a:r>
            <a:r>
              <a:rPr sz="3200" spc="-10" dirty="0">
                <a:latin typeface="Trebuchet MS"/>
                <a:cs typeface="Trebuchet MS"/>
              </a:rPr>
              <a:t>lidar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volumes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crescentes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tráfego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sem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grandes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interrupções.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5199"/>
              </a:lnSpc>
            </a:pP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especialmente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útil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cenários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onde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demanda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por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recursos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variar </a:t>
            </a:r>
            <a:r>
              <a:rPr sz="3200" spc="-10" dirty="0">
                <a:latin typeface="Trebuchet MS"/>
                <a:cs typeface="Trebuchet MS"/>
              </a:rPr>
              <a:t>significativamente.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785495">
              <a:lnSpc>
                <a:spcPct val="115199"/>
              </a:lnSpc>
            </a:pPr>
            <a:r>
              <a:rPr sz="3200" spc="75" dirty="0">
                <a:latin typeface="Trebuchet MS"/>
                <a:cs typeface="Trebuchet MS"/>
              </a:rPr>
              <a:t>SQL: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Bancos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relacionais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também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podem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escalados,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mas </a:t>
            </a:r>
            <a:r>
              <a:rPr sz="3200" spc="95" dirty="0">
                <a:latin typeface="Trebuchet MS"/>
                <a:cs typeface="Trebuchet MS"/>
              </a:rPr>
              <a:t>frequentemente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envolvem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complexidade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termos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modelagem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gerenciamento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esquema.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628739"/>
            <a:ext cx="55606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Escalabilidade:</a:t>
            </a:r>
            <a:endParaRPr sz="6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13" y="2424589"/>
            <a:ext cx="104774" cy="104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13" y="411051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513" y="579643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513" y="748236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46048" y="2083582"/>
            <a:ext cx="16202025" cy="676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3150">
              <a:lnSpc>
                <a:spcPct val="115199"/>
              </a:lnSpc>
              <a:spcBef>
                <a:spcPts val="100"/>
              </a:spcBef>
            </a:pPr>
            <a:r>
              <a:rPr sz="3200" spc="229" dirty="0">
                <a:latin typeface="Trebuchet MS"/>
                <a:cs typeface="Trebuchet MS"/>
              </a:rPr>
              <a:t>Se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estiver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construindo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aplicativo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requisitos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bem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definidos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um </a:t>
            </a:r>
            <a:r>
              <a:rPr sz="3200" spc="125" dirty="0">
                <a:latin typeface="Trebuchet MS"/>
                <a:cs typeface="Trebuchet MS"/>
              </a:rPr>
              <a:t>esquema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estável,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apropriado.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5199"/>
              </a:lnSpc>
            </a:pPr>
            <a:r>
              <a:rPr sz="3200" spc="229" dirty="0">
                <a:latin typeface="Trebuchet MS"/>
                <a:cs typeface="Trebuchet MS"/>
              </a:rPr>
              <a:t>Se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precisar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flexibilidade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esquema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tiver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semi-</a:t>
            </a:r>
            <a:r>
              <a:rPr sz="3200" spc="150" dirty="0">
                <a:latin typeface="Trebuchet MS"/>
                <a:cs typeface="Trebuchet MS"/>
              </a:rPr>
              <a:t>estruturados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ou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em </a:t>
            </a:r>
            <a:r>
              <a:rPr sz="3200" spc="145" dirty="0">
                <a:latin typeface="Trebuchet MS"/>
                <a:cs typeface="Trebuchet MS"/>
              </a:rPr>
              <a:t>constante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mudança,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melhor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escolha.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153670">
              <a:lnSpc>
                <a:spcPct val="115199"/>
              </a:lnSpc>
            </a:pPr>
            <a:r>
              <a:rPr sz="3200" spc="229" dirty="0">
                <a:latin typeface="Trebuchet MS"/>
                <a:cs typeface="Trebuchet MS"/>
              </a:rPr>
              <a:t>Se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seu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aplicativo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precisa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recuperação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rápida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tempo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real,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em </a:t>
            </a:r>
            <a:r>
              <a:rPr sz="3200" spc="45" dirty="0">
                <a:latin typeface="Trebuchet MS"/>
                <a:cs typeface="Trebuchet MS"/>
              </a:rPr>
              <a:t>aplicativos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mídia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social,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podem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benéficos.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255904">
              <a:lnSpc>
                <a:spcPct val="115199"/>
              </a:lnSpc>
            </a:pPr>
            <a:r>
              <a:rPr sz="3200" spc="229" dirty="0">
                <a:latin typeface="Trebuchet MS"/>
                <a:cs typeface="Trebuchet MS"/>
              </a:rPr>
              <a:t>Se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aplicativo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tem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requisitos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conformidade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regulatória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precisa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garantir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a </a:t>
            </a:r>
            <a:r>
              <a:rPr sz="3200" spc="160" dirty="0">
                <a:latin typeface="Trebuchet MS"/>
                <a:cs typeface="Trebuchet MS"/>
              </a:rPr>
              <a:t>segurança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controle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rigoroso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dados,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mais apropriado.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0753" y="-31051"/>
            <a:ext cx="17066492" cy="1466319"/>
          </a:xfrm>
          <a:prstGeom prst="rect">
            <a:avLst/>
          </a:prstGeom>
        </p:spPr>
        <p:txBody>
          <a:bodyPr vert="horz" wrap="square" lIns="0" tIns="720618" rIns="0" bIns="0" rtlCol="0">
            <a:spAutoFit/>
          </a:bodyPr>
          <a:lstStyle/>
          <a:p>
            <a:pPr marL="66484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Quando</a:t>
            </a:r>
            <a:r>
              <a:rPr spc="-240" dirty="0"/>
              <a:t> </a:t>
            </a:r>
            <a:r>
              <a:rPr spc="160" dirty="0"/>
              <a:t>usar</a:t>
            </a:r>
            <a:r>
              <a:rPr spc="-240" dirty="0"/>
              <a:t> </a:t>
            </a:r>
            <a:r>
              <a:rPr dirty="0"/>
              <a:t>NoSQL</a:t>
            </a:r>
            <a:r>
              <a:rPr spc="-240" dirty="0"/>
              <a:t> </a:t>
            </a:r>
            <a:r>
              <a:rPr spc="160" dirty="0"/>
              <a:t>e</a:t>
            </a:r>
            <a:r>
              <a:rPr spc="-240" dirty="0"/>
              <a:t> </a:t>
            </a:r>
            <a:r>
              <a:rPr spc="-20" dirty="0"/>
              <a:t>SQL?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744" y="190500"/>
            <a:ext cx="16438512" cy="977334"/>
          </a:xfrm>
          <a:prstGeom prst="rect">
            <a:avLst/>
          </a:prstGeom>
        </p:spPr>
        <p:txBody>
          <a:bodyPr vert="horz" wrap="square" lIns="0" tIns="488251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0"/>
              </a:spcBef>
            </a:pPr>
            <a:r>
              <a:rPr sz="6000" spc="415" dirty="0"/>
              <a:t>O</a:t>
            </a:r>
            <a:r>
              <a:rPr sz="6000" spc="-330" dirty="0"/>
              <a:t> </a:t>
            </a:r>
            <a:r>
              <a:rPr sz="6000" dirty="0"/>
              <a:t>que</a:t>
            </a:r>
            <a:r>
              <a:rPr sz="6000" spc="-325" dirty="0"/>
              <a:t> </a:t>
            </a:r>
            <a:r>
              <a:rPr sz="6000" spc="200" dirty="0"/>
              <a:t>é</a:t>
            </a:r>
            <a:r>
              <a:rPr sz="6000" spc="-325" dirty="0"/>
              <a:t> </a:t>
            </a:r>
            <a:r>
              <a:rPr sz="6000" spc="-20" dirty="0"/>
              <a:t>SQL?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797669" y="1740452"/>
            <a:ext cx="15553055" cy="486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75" dirty="0">
                <a:latin typeface="Arial"/>
                <a:cs typeface="Arial"/>
              </a:rPr>
              <a:t>Structured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130" dirty="0">
                <a:latin typeface="Arial"/>
                <a:cs typeface="Arial"/>
              </a:rPr>
              <a:t>Query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Language,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Linguagem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50" dirty="0">
                <a:latin typeface="Arial"/>
                <a:cs typeface="Arial"/>
              </a:rPr>
              <a:t>consulta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spc="180" dirty="0">
                <a:latin typeface="Arial"/>
                <a:cs typeface="Arial"/>
              </a:rPr>
              <a:t>estruturada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15199"/>
              </a:lnSpc>
              <a:spcBef>
                <a:spcPts val="5"/>
              </a:spcBef>
            </a:pPr>
            <a:r>
              <a:rPr sz="3200" spc="114" dirty="0">
                <a:latin typeface="Trebuchet MS"/>
                <a:cs typeface="Trebuchet MS"/>
              </a:rPr>
              <a:t>É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linguagem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programação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armazenar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processar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informações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em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relacional.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Um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relacional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armazena </a:t>
            </a:r>
            <a:r>
              <a:rPr sz="3200" spc="120" dirty="0">
                <a:latin typeface="Trebuchet MS"/>
                <a:cs typeface="Trebuchet MS"/>
              </a:rPr>
              <a:t>informações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formato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tabular,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linhas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colunas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representando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diferentes </a:t>
            </a:r>
            <a:r>
              <a:rPr sz="3200" spc="110" dirty="0">
                <a:latin typeface="Trebuchet MS"/>
                <a:cs typeface="Trebuchet MS"/>
              </a:rPr>
              <a:t>atributos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várias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relações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entre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valores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225425">
              <a:lnSpc>
                <a:spcPct val="115199"/>
              </a:lnSpc>
            </a:pPr>
            <a:r>
              <a:rPr sz="3200" spc="225" dirty="0">
                <a:latin typeface="Trebuchet MS"/>
                <a:cs typeface="Trebuchet MS"/>
              </a:rPr>
              <a:t>A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linguagem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foi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criada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justamente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facilitar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gerenciamento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 </a:t>
            </a:r>
            <a:r>
              <a:rPr sz="3200" spc="145" dirty="0">
                <a:latin typeface="Trebuchet MS"/>
                <a:cs typeface="Trebuchet MS"/>
              </a:rPr>
              <a:t>armazenados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seguem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esse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padrão.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251" y="3686175"/>
            <a:ext cx="104774" cy="104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251" y="48101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251" y="64960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251" y="81819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8926" y="2295588"/>
            <a:ext cx="16649065" cy="669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70" dirty="0">
                <a:latin typeface="Trebuchet MS"/>
                <a:cs typeface="Trebuchet MS"/>
              </a:rPr>
              <a:t>Alguns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principais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sistemas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utilizam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essa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tecnologia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são: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3200">
              <a:latin typeface="Trebuchet MS"/>
              <a:cs typeface="Trebuchet MS"/>
            </a:endParaRPr>
          </a:p>
          <a:p>
            <a:pPr marL="702945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MySQL</a:t>
            </a:r>
            <a:r>
              <a:rPr sz="3200" dirty="0">
                <a:latin typeface="Trebuchet MS"/>
                <a:cs typeface="Trebuchet MS"/>
              </a:rPr>
              <a:t>: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criado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pela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Oracle,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opção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oferece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serviços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gratuitos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pagos;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702945" marR="1181100">
              <a:lnSpc>
                <a:spcPct val="115199"/>
              </a:lnSpc>
              <a:spcBef>
                <a:spcPts val="5"/>
              </a:spcBef>
            </a:pPr>
            <a:r>
              <a:rPr sz="3200" b="1" spc="55" dirty="0">
                <a:latin typeface="Arial"/>
                <a:cs typeface="Arial"/>
              </a:rPr>
              <a:t>PostgreSQL: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dirty="0">
                <a:latin typeface="Trebuchet MS"/>
                <a:cs typeface="Trebuchet MS"/>
              </a:rPr>
              <a:t>muito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usado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aplicações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web,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essa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opção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gratuita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125" dirty="0">
                <a:latin typeface="Trebuchet MS"/>
                <a:cs typeface="Trebuchet MS"/>
              </a:rPr>
              <a:t>código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aberto;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702945" marR="819785">
              <a:lnSpc>
                <a:spcPct val="115199"/>
              </a:lnSpc>
            </a:pPr>
            <a:r>
              <a:rPr sz="3200" b="1" spc="80" dirty="0">
                <a:latin typeface="Arial"/>
                <a:cs typeface="Arial"/>
              </a:rPr>
              <a:t>Oracle: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conhecido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pela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sua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segurança,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esse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sistema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usados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por </a:t>
            </a:r>
            <a:r>
              <a:rPr sz="3200" spc="165" dirty="0">
                <a:latin typeface="Trebuchet MS"/>
                <a:cs typeface="Trebuchet MS"/>
              </a:rPr>
              <a:t>grandes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corporações;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702945" marR="5080">
              <a:lnSpc>
                <a:spcPct val="115199"/>
              </a:lnSpc>
            </a:pPr>
            <a:r>
              <a:rPr sz="3200" b="1" dirty="0">
                <a:latin typeface="Arial"/>
                <a:cs typeface="Arial"/>
              </a:rPr>
              <a:t>SQL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105" dirty="0">
                <a:latin typeface="Arial"/>
                <a:cs typeface="Arial"/>
              </a:rPr>
              <a:t>Server: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desenvolvido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pela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Microsoft,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ele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oferece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tanto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serviços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pagos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quanto </a:t>
            </a:r>
            <a:r>
              <a:rPr sz="3200" spc="155" dirty="0">
                <a:latin typeface="Trebuchet MS"/>
                <a:cs typeface="Trebuchet MS"/>
              </a:rPr>
              <a:t>versões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gratuitas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download.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4744" y="319273"/>
            <a:ext cx="16438512" cy="977334"/>
          </a:xfrm>
          <a:prstGeom prst="rect">
            <a:avLst/>
          </a:prstGeom>
        </p:spPr>
        <p:txBody>
          <a:bodyPr vert="horz" wrap="square" lIns="0" tIns="488251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0"/>
              </a:spcBef>
            </a:pPr>
            <a:r>
              <a:rPr sz="6000" spc="114" dirty="0"/>
              <a:t>Onde</a:t>
            </a:r>
            <a:r>
              <a:rPr sz="6000" spc="-340" dirty="0"/>
              <a:t> </a:t>
            </a:r>
            <a:r>
              <a:rPr sz="6000" spc="200" dirty="0"/>
              <a:t>é</a:t>
            </a:r>
            <a:r>
              <a:rPr sz="6000" spc="-335" dirty="0"/>
              <a:t> </a:t>
            </a:r>
            <a:r>
              <a:rPr sz="6000" spc="75" dirty="0"/>
              <a:t>utilizado</a:t>
            </a:r>
            <a:r>
              <a:rPr sz="6000" spc="-335" dirty="0"/>
              <a:t> </a:t>
            </a:r>
            <a:r>
              <a:rPr sz="6000" spc="-20" dirty="0"/>
              <a:t>SQL?</a:t>
            </a:r>
            <a:endParaRPr sz="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208" y="3579384"/>
            <a:ext cx="85725" cy="8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208" y="556058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208" y="7046484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208" y="803708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208" y="9522984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6949" y="3275848"/>
            <a:ext cx="16375380" cy="646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  <a:tabLst>
                <a:tab pos="2737485" algn="l"/>
              </a:tabLst>
            </a:pPr>
            <a:r>
              <a:rPr sz="2800" b="1" spc="35" dirty="0">
                <a:latin typeface="Arial"/>
                <a:cs typeface="Arial"/>
              </a:rPr>
              <a:t>Padronização: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415" dirty="0">
                <a:latin typeface="Trebuchet MS"/>
                <a:cs typeface="Trebuchet MS"/>
              </a:rPr>
              <a:t>O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250" dirty="0">
                <a:latin typeface="Trebuchet MS"/>
                <a:cs typeface="Trebuchet MS"/>
              </a:rPr>
              <a:t>SQL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foi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95" dirty="0">
                <a:latin typeface="Trebuchet MS"/>
                <a:cs typeface="Trebuchet MS"/>
              </a:rPr>
              <a:t>padronizado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pelo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ANSI.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160" dirty="0">
                <a:latin typeface="Trebuchet MS"/>
                <a:cs typeface="Trebuchet MS"/>
              </a:rPr>
              <a:t>Por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isso,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ela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130" dirty="0">
                <a:latin typeface="Trebuchet MS"/>
                <a:cs typeface="Trebuchet MS"/>
              </a:rPr>
              <a:t>oferece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uma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ampla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120" dirty="0">
                <a:latin typeface="Trebuchet MS"/>
                <a:cs typeface="Trebuchet MS"/>
              </a:rPr>
              <a:t>documentação </a:t>
            </a:r>
            <a:r>
              <a:rPr sz="2800" spc="-175" dirty="0">
                <a:latin typeface="Trebuchet MS"/>
                <a:cs typeface="Trebuchet MS"/>
              </a:rPr>
              <a:t>e,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aprendendo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90" dirty="0">
                <a:latin typeface="Trebuchet MS"/>
                <a:cs typeface="Trebuchet MS"/>
              </a:rPr>
              <a:t>a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linguagem,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você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vai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conseguir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lidar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facilmente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55" dirty="0">
                <a:latin typeface="Trebuchet MS"/>
                <a:cs typeface="Trebuchet MS"/>
              </a:rPr>
              <a:t>com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diferentes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55" dirty="0">
                <a:latin typeface="Trebuchet MS"/>
                <a:cs typeface="Trebuchet MS"/>
              </a:rPr>
              <a:t>bancos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de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60" dirty="0">
                <a:latin typeface="Trebuchet MS"/>
                <a:cs typeface="Trebuchet MS"/>
              </a:rPr>
              <a:t>dados </a:t>
            </a:r>
            <a:r>
              <a:rPr sz="2800" spc="70" dirty="0">
                <a:latin typeface="Trebuchet MS"/>
                <a:cs typeface="Trebuchet MS"/>
              </a:rPr>
              <a:t>que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190" dirty="0">
                <a:latin typeface="Trebuchet MS"/>
                <a:cs typeface="Trebuchet MS"/>
              </a:rPr>
              <a:t>a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implementam;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940435">
              <a:lnSpc>
                <a:spcPct val="116100"/>
              </a:lnSpc>
            </a:pPr>
            <a:r>
              <a:rPr sz="2800" b="1" dirty="0">
                <a:latin typeface="Arial"/>
                <a:cs typeface="Arial"/>
              </a:rPr>
              <a:t>Rápido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acesso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aos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dados: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spc="250" dirty="0">
                <a:latin typeface="Trebuchet MS"/>
                <a:cs typeface="Trebuchet MS"/>
              </a:rPr>
              <a:t>SQL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permite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190" dirty="0">
                <a:latin typeface="Trebuchet MS"/>
                <a:cs typeface="Trebuchet MS"/>
              </a:rPr>
              <a:t>a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135" dirty="0">
                <a:latin typeface="Trebuchet MS"/>
                <a:cs typeface="Trebuchet MS"/>
              </a:rPr>
              <a:t>recuperação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de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múltiplos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registros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155" dirty="0">
                <a:latin typeface="Trebuchet MS"/>
                <a:cs typeface="Trebuchet MS"/>
              </a:rPr>
              <a:t>com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um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único </a:t>
            </a:r>
            <a:r>
              <a:rPr sz="2800" spc="65" dirty="0">
                <a:latin typeface="Trebuchet MS"/>
                <a:cs typeface="Trebuchet MS"/>
              </a:rPr>
              <a:t>comando,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tudo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feito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de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60" dirty="0">
                <a:latin typeface="Trebuchet MS"/>
                <a:cs typeface="Trebuchet MS"/>
              </a:rPr>
              <a:t>forma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85" dirty="0">
                <a:latin typeface="Trebuchet MS"/>
                <a:cs typeface="Trebuchet MS"/>
              </a:rPr>
              <a:t>rápida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eficiente;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b="1" spc="50" dirty="0">
                <a:latin typeface="Arial"/>
                <a:cs typeface="Arial"/>
              </a:rPr>
              <a:t>Portabilidade: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spc="165" dirty="0">
                <a:latin typeface="Trebuchet MS"/>
                <a:cs typeface="Trebuchet MS"/>
              </a:rPr>
              <a:t>o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250" dirty="0">
                <a:latin typeface="Trebuchet MS"/>
                <a:cs typeface="Trebuchet MS"/>
              </a:rPr>
              <a:t>SQL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pode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50" dirty="0">
                <a:latin typeface="Trebuchet MS"/>
                <a:cs typeface="Trebuchet MS"/>
              </a:rPr>
              <a:t>ser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45" dirty="0">
                <a:latin typeface="Trebuchet MS"/>
                <a:cs typeface="Trebuchet MS"/>
              </a:rPr>
              <a:t>usado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em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diversas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aplicações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65" dirty="0">
                <a:latin typeface="Trebuchet MS"/>
                <a:cs typeface="Trebuchet MS"/>
              </a:rPr>
              <a:t>para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diferentes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plataformas;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463550">
              <a:lnSpc>
                <a:spcPct val="116100"/>
              </a:lnSpc>
            </a:pPr>
            <a:r>
              <a:rPr sz="2800" b="1" spc="55" dirty="0">
                <a:latin typeface="Arial"/>
                <a:cs typeface="Arial"/>
              </a:rPr>
              <a:t>Múltiplas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visões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50" dirty="0">
                <a:latin typeface="Arial"/>
                <a:cs typeface="Arial"/>
              </a:rPr>
              <a:t>de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dados:</a:t>
            </a:r>
            <a:r>
              <a:rPr sz="2800" b="1" spc="40" dirty="0">
                <a:latin typeface="Arial"/>
                <a:cs typeface="Arial"/>
              </a:rPr>
              <a:t> </a:t>
            </a:r>
            <a:r>
              <a:rPr sz="2800" spc="155" dirty="0">
                <a:latin typeface="Trebuchet MS"/>
                <a:cs typeface="Trebuchet MS"/>
              </a:rPr>
              <a:t>com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250" dirty="0">
                <a:latin typeface="Trebuchet MS"/>
                <a:cs typeface="Trebuchet MS"/>
              </a:rPr>
              <a:t>SQL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é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possível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definir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diferentes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visualizações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160" dirty="0">
                <a:latin typeface="Trebuchet MS"/>
                <a:cs typeface="Trebuchet MS"/>
              </a:rPr>
              <a:t>da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120" dirty="0">
                <a:latin typeface="Trebuchet MS"/>
                <a:cs typeface="Trebuchet MS"/>
              </a:rPr>
              <a:t>estrutura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do </a:t>
            </a:r>
            <a:r>
              <a:rPr sz="2800" spc="140" dirty="0">
                <a:latin typeface="Trebuchet MS"/>
                <a:cs typeface="Trebuchet MS"/>
              </a:rPr>
              <a:t>banco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165" dirty="0">
                <a:latin typeface="Trebuchet MS"/>
                <a:cs typeface="Trebuchet MS"/>
              </a:rPr>
              <a:t>para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diferentes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180" dirty="0">
                <a:latin typeface="Trebuchet MS"/>
                <a:cs typeface="Trebuchet MS"/>
              </a:rPr>
              <a:t>pessoas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usuárias;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b="1" spc="-25" dirty="0">
                <a:latin typeface="Arial"/>
                <a:cs typeface="Arial"/>
              </a:rPr>
              <a:t>Linguagem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cliente/servidor</a:t>
            </a:r>
            <a:r>
              <a:rPr sz="2800" dirty="0">
                <a:latin typeface="Trebuchet MS"/>
                <a:cs typeface="Trebuchet MS"/>
              </a:rPr>
              <a:t>:</a:t>
            </a:r>
            <a:r>
              <a:rPr sz="2800" spc="125" dirty="0">
                <a:latin typeface="Trebuchet MS"/>
                <a:cs typeface="Trebuchet MS"/>
              </a:rPr>
              <a:t> </a:t>
            </a:r>
            <a:r>
              <a:rPr sz="2800" spc="155" dirty="0">
                <a:latin typeface="Trebuchet MS"/>
                <a:cs typeface="Trebuchet MS"/>
              </a:rPr>
              <a:t>com</a:t>
            </a:r>
            <a:r>
              <a:rPr sz="2800" spc="120" dirty="0">
                <a:latin typeface="Trebuchet MS"/>
                <a:cs typeface="Trebuchet MS"/>
              </a:rPr>
              <a:t> </a:t>
            </a:r>
            <a:r>
              <a:rPr sz="2800" spc="250" dirty="0">
                <a:latin typeface="Trebuchet MS"/>
                <a:cs typeface="Trebuchet MS"/>
              </a:rPr>
              <a:t>SQL</a:t>
            </a:r>
            <a:r>
              <a:rPr sz="2800" spc="120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é</a:t>
            </a:r>
            <a:r>
              <a:rPr sz="2800" spc="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possível</a:t>
            </a:r>
            <a:r>
              <a:rPr sz="2800" spc="1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implementar</a:t>
            </a:r>
            <a:r>
              <a:rPr sz="2800" spc="12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arquitetura</a:t>
            </a:r>
            <a:r>
              <a:rPr sz="2800" spc="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cliente-</a:t>
            </a:r>
            <a:r>
              <a:rPr sz="2800" spc="-10" dirty="0">
                <a:latin typeface="Trebuchet MS"/>
                <a:cs typeface="Trebuchet MS"/>
              </a:rPr>
              <a:t>servidor.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2558" y="50414"/>
            <a:ext cx="15644494" cy="275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03520" marR="5080" indent="-4341495">
              <a:lnSpc>
                <a:spcPct val="116700"/>
              </a:lnSpc>
              <a:spcBef>
                <a:spcPts val="95"/>
              </a:spcBef>
            </a:pPr>
            <a:r>
              <a:rPr sz="6000" spc="65" dirty="0"/>
              <a:t>Quais</a:t>
            </a:r>
            <a:r>
              <a:rPr sz="6000" spc="-325" dirty="0"/>
              <a:t> </a:t>
            </a:r>
            <a:r>
              <a:rPr sz="6000" spc="165" dirty="0"/>
              <a:t>as</a:t>
            </a:r>
            <a:r>
              <a:rPr sz="6000" spc="-325" dirty="0"/>
              <a:t> </a:t>
            </a:r>
            <a:r>
              <a:rPr sz="6000" spc="195" dirty="0"/>
              <a:t>vantagens</a:t>
            </a:r>
            <a:r>
              <a:rPr sz="6000" spc="-325" dirty="0"/>
              <a:t> </a:t>
            </a:r>
            <a:r>
              <a:rPr sz="6000" spc="200" dirty="0"/>
              <a:t>e</a:t>
            </a:r>
            <a:r>
              <a:rPr sz="6000" spc="-325" dirty="0"/>
              <a:t> </a:t>
            </a:r>
            <a:r>
              <a:rPr sz="6000" spc="155" dirty="0"/>
              <a:t>desvantagens</a:t>
            </a:r>
            <a:r>
              <a:rPr sz="6000" spc="-325" dirty="0"/>
              <a:t> </a:t>
            </a:r>
            <a:r>
              <a:rPr sz="6000" spc="225" dirty="0"/>
              <a:t>da </a:t>
            </a:r>
            <a:r>
              <a:rPr sz="6000" spc="-10" dirty="0"/>
              <a:t>linguagem</a:t>
            </a:r>
            <a:r>
              <a:rPr sz="6000" spc="-330" dirty="0"/>
              <a:t> </a:t>
            </a:r>
            <a:r>
              <a:rPr sz="6000" spc="-20" dirty="0"/>
              <a:t>SQL?</a:t>
            </a:r>
            <a:endParaRPr sz="6000"/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b="0" dirty="0">
                <a:latin typeface="Trebuchet MS"/>
                <a:cs typeface="Trebuchet MS"/>
              </a:rPr>
              <a:t>Principais</a:t>
            </a:r>
            <a:r>
              <a:rPr sz="2800" b="0" spc="225" dirty="0">
                <a:latin typeface="Trebuchet MS"/>
                <a:cs typeface="Trebuchet MS"/>
              </a:rPr>
              <a:t> </a:t>
            </a:r>
            <a:r>
              <a:rPr sz="2800" b="0" spc="120" dirty="0">
                <a:latin typeface="Trebuchet MS"/>
                <a:cs typeface="Trebuchet MS"/>
              </a:rPr>
              <a:t>vantagens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822" y="4290538"/>
            <a:ext cx="104774" cy="104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822" y="5976463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6497" y="2899952"/>
            <a:ext cx="16498569" cy="3884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rebuchet MS"/>
                <a:cs typeface="Trebuchet MS"/>
              </a:rPr>
              <a:t>Principais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desvantagens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702945" marR="5080">
              <a:lnSpc>
                <a:spcPct val="115199"/>
              </a:lnSpc>
            </a:pPr>
            <a:r>
              <a:rPr sz="3200" b="1" spc="50" dirty="0">
                <a:latin typeface="Arial"/>
                <a:cs typeface="Arial"/>
              </a:rPr>
              <a:t>Dificuldade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com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245" dirty="0">
                <a:latin typeface="Arial"/>
                <a:cs typeface="Arial"/>
              </a:rPr>
              <a:t>a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135" dirty="0">
                <a:latin typeface="Arial"/>
                <a:cs typeface="Arial"/>
              </a:rPr>
              <a:t>interface:</a:t>
            </a:r>
            <a:r>
              <a:rPr sz="3200" b="1" spc="-165" dirty="0">
                <a:latin typeface="Arial"/>
                <a:cs typeface="Arial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quem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não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está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acostumado,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interface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um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difícil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lidar;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702945" marR="127635">
              <a:lnSpc>
                <a:spcPct val="115199"/>
              </a:lnSpc>
            </a:pPr>
            <a:r>
              <a:rPr sz="3200" b="1" dirty="0">
                <a:latin typeface="Arial"/>
                <a:cs typeface="Arial"/>
              </a:rPr>
              <a:t>Custo: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custo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operacional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alguns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serviços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oferecidos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por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utilizam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caro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dificulta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acesso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desenvolvedores.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82052" y="50417"/>
            <a:ext cx="14695169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53560" marR="5080" indent="-4341495">
              <a:lnSpc>
                <a:spcPct val="116700"/>
              </a:lnSpc>
              <a:spcBef>
                <a:spcPts val="95"/>
              </a:spcBef>
            </a:pPr>
            <a:r>
              <a:rPr sz="6000" spc="65" dirty="0"/>
              <a:t>Quais</a:t>
            </a:r>
            <a:r>
              <a:rPr sz="6000" spc="-325" dirty="0"/>
              <a:t> </a:t>
            </a:r>
            <a:r>
              <a:rPr sz="6000" spc="165" dirty="0"/>
              <a:t>as</a:t>
            </a:r>
            <a:r>
              <a:rPr sz="6000" spc="-325" dirty="0"/>
              <a:t> </a:t>
            </a:r>
            <a:r>
              <a:rPr sz="6000" spc="195" dirty="0"/>
              <a:t>vantagens</a:t>
            </a:r>
            <a:r>
              <a:rPr sz="6000" spc="-325" dirty="0"/>
              <a:t> </a:t>
            </a:r>
            <a:r>
              <a:rPr sz="6000" spc="200" dirty="0"/>
              <a:t>e</a:t>
            </a:r>
            <a:r>
              <a:rPr sz="6000" spc="-325" dirty="0"/>
              <a:t> </a:t>
            </a:r>
            <a:r>
              <a:rPr sz="6000" spc="155" dirty="0"/>
              <a:t>desvantagens</a:t>
            </a:r>
            <a:r>
              <a:rPr sz="6000" spc="-325" dirty="0"/>
              <a:t> </a:t>
            </a:r>
            <a:r>
              <a:rPr sz="6000" spc="225" dirty="0"/>
              <a:t>da </a:t>
            </a:r>
            <a:r>
              <a:rPr sz="6000" spc="-10" dirty="0"/>
              <a:t>linguagem</a:t>
            </a:r>
            <a:r>
              <a:rPr sz="6000" spc="-330" dirty="0"/>
              <a:t> </a:t>
            </a:r>
            <a:r>
              <a:rPr sz="6000" spc="-20" dirty="0"/>
              <a:t>SQL?</a:t>
            </a:r>
            <a:endParaRPr sz="6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578" y="1318200"/>
            <a:ext cx="14220824" cy="80867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443" y="178327"/>
            <a:ext cx="16438512" cy="977334"/>
          </a:xfrm>
          <a:prstGeom prst="rect">
            <a:avLst/>
          </a:prstGeom>
        </p:spPr>
        <p:txBody>
          <a:bodyPr vert="horz" wrap="square" lIns="0" tIns="488251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904D"/>
                </a:solidFill>
              </a:rPr>
              <a:t>DML:</a:t>
            </a:r>
            <a:r>
              <a:rPr sz="6000" spc="-340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linguagem</a:t>
            </a:r>
            <a:r>
              <a:rPr sz="6000" spc="-34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35" dirty="0">
                <a:solidFill>
                  <a:srgbClr val="FF904D"/>
                </a:solidFill>
              </a:rPr>
              <a:t> </a:t>
            </a:r>
            <a:r>
              <a:rPr sz="6000" spc="70" dirty="0">
                <a:solidFill>
                  <a:srgbClr val="FF904D"/>
                </a:solidFill>
              </a:rPr>
              <a:t>manipulação</a:t>
            </a:r>
            <a:r>
              <a:rPr sz="6000" spc="-34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35" dirty="0">
                <a:solidFill>
                  <a:srgbClr val="FF904D"/>
                </a:solidFill>
              </a:rPr>
              <a:t> </a:t>
            </a:r>
            <a:r>
              <a:rPr sz="6000" spc="60" dirty="0">
                <a:solidFill>
                  <a:srgbClr val="FF904D"/>
                </a:solidFill>
              </a:rPr>
              <a:t>dados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939232" y="1904353"/>
            <a:ext cx="16116935" cy="283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b="1" spc="95" dirty="0">
                <a:latin typeface="Arial"/>
                <a:cs typeface="Arial"/>
              </a:rPr>
              <a:t>DML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150" dirty="0">
                <a:latin typeface="Arial"/>
                <a:cs typeface="Arial"/>
              </a:rPr>
              <a:t>(Data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spc="60" dirty="0">
                <a:latin typeface="Arial"/>
                <a:cs typeface="Arial"/>
              </a:rPr>
              <a:t>Manipulation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Language)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subconjunto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define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os </a:t>
            </a:r>
            <a:r>
              <a:rPr sz="3200" spc="165" dirty="0">
                <a:latin typeface="Trebuchet MS"/>
                <a:cs typeface="Trebuchet MS"/>
              </a:rPr>
              <a:t>comandos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usados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manipular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armazenados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banco.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Esse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um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conjuntos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utilizados,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pois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ele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fornece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operadores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nos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permitem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inserir, </a:t>
            </a:r>
            <a:r>
              <a:rPr sz="3200" spc="-25" dirty="0">
                <a:latin typeface="Trebuchet MS"/>
                <a:cs typeface="Trebuchet MS"/>
              </a:rPr>
              <a:t>excluir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alterar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registros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tabela,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por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exemplo.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comandos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mais </a:t>
            </a:r>
            <a:r>
              <a:rPr sz="3200" spc="105" dirty="0">
                <a:latin typeface="Trebuchet MS"/>
                <a:cs typeface="Trebuchet MS"/>
              </a:rPr>
              <a:t>importantes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desse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subconjunto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são: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INSERT,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DELETE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UPDATE.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5465171"/>
            <a:ext cx="139115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05" dirty="0">
                <a:solidFill>
                  <a:srgbClr val="FF904D"/>
                </a:solidFill>
                <a:latin typeface="Arial"/>
                <a:cs typeface="Arial"/>
              </a:rPr>
              <a:t>DQL: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-10" dirty="0">
                <a:solidFill>
                  <a:srgbClr val="FF904D"/>
                </a:solidFill>
                <a:latin typeface="Arial"/>
                <a:cs typeface="Arial"/>
              </a:rPr>
              <a:t>linguagem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114" dirty="0">
                <a:solidFill>
                  <a:srgbClr val="FF904D"/>
                </a:solidFill>
                <a:latin typeface="Arial"/>
                <a:cs typeface="Arial"/>
              </a:rPr>
              <a:t>de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100" dirty="0">
                <a:solidFill>
                  <a:srgbClr val="FF904D"/>
                </a:solidFill>
                <a:latin typeface="Arial"/>
                <a:cs typeface="Arial"/>
              </a:rPr>
              <a:t>consulta</a:t>
            </a:r>
            <a:r>
              <a:rPr sz="6000" b="1" spc="-32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114" dirty="0">
                <a:solidFill>
                  <a:srgbClr val="FF904D"/>
                </a:solidFill>
                <a:latin typeface="Arial"/>
                <a:cs typeface="Arial"/>
              </a:rPr>
              <a:t>de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60" dirty="0">
                <a:solidFill>
                  <a:srgbClr val="FF904D"/>
                </a:solidFill>
                <a:latin typeface="Arial"/>
                <a:cs typeface="Arial"/>
              </a:rPr>
              <a:t>dados</a:t>
            </a:r>
            <a:endParaRPr sz="6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6925022"/>
            <a:ext cx="1515173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Arial"/>
                <a:cs typeface="Arial"/>
              </a:rPr>
              <a:t>DQL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150" dirty="0">
                <a:latin typeface="Arial"/>
                <a:cs typeface="Arial"/>
              </a:rPr>
              <a:t>(Data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130" dirty="0">
                <a:latin typeface="Arial"/>
                <a:cs typeface="Arial"/>
              </a:rPr>
              <a:t>Query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Language)</a:t>
            </a:r>
            <a:r>
              <a:rPr sz="3200" b="1" spc="20" dirty="0">
                <a:latin typeface="Arial"/>
                <a:cs typeface="Arial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conjunto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define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comando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mais </a:t>
            </a:r>
            <a:r>
              <a:rPr sz="3200" spc="70" dirty="0">
                <a:latin typeface="Trebuchet MS"/>
                <a:cs typeface="Trebuchet MS"/>
              </a:rPr>
              <a:t>popular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linguagem,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SELECT.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Esse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comando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essencial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possamos </a:t>
            </a:r>
            <a:r>
              <a:rPr sz="3200" spc="90" dirty="0">
                <a:latin typeface="Trebuchet MS"/>
                <a:cs typeface="Trebuchet MS"/>
              </a:rPr>
              <a:t>consultar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armazenamos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nosso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banco.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253" y="279966"/>
            <a:ext cx="16438512" cy="977334"/>
          </a:xfrm>
          <a:prstGeom prst="rect">
            <a:avLst/>
          </a:prstGeom>
        </p:spPr>
        <p:txBody>
          <a:bodyPr vert="horz" wrap="square" lIns="0" tIns="488251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100"/>
              </a:spcBef>
            </a:pPr>
            <a:r>
              <a:rPr sz="6000" spc="-160" dirty="0">
                <a:solidFill>
                  <a:srgbClr val="FF904D"/>
                </a:solidFill>
              </a:rPr>
              <a:t>DDL: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linguagem</a:t>
            </a:r>
            <a:r>
              <a:rPr sz="6000" spc="-325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25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definição</a:t>
            </a:r>
            <a:r>
              <a:rPr sz="6000" spc="-325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25" dirty="0">
                <a:solidFill>
                  <a:srgbClr val="FF904D"/>
                </a:solidFill>
              </a:rPr>
              <a:t> </a:t>
            </a:r>
            <a:r>
              <a:rPr sz="6000" spc="60" dirty="0">
                <a:solidFill>
                  <a:srgbClr val="FF904D"/>
                </a:solidFill>
              </a:rPr>
              <a:t>dados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914253" y="1732048"/>
            <a:ext cx="1617916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Arial"/>
                <a:cs typeface="Arial"/>
              </a:rPr>
              <a:t>DDL</a:t>
            </a:r>
            <a:r>
              <a:rPr sz="3200" b="1" spc="-190" dirty="0">
                <a:latin typeface="Arial"/>
                <a:cs typeface="Arial"/>
              </a:rPr>
              <a:t> </a:t>
            </a:r>
            <a:r>
              <a:rPr sz="3200" b="1" spc="150" dirty="0">
                <a:latin typeface="Arial"/>
                <a:cs typeface="Arial"/>
              </a:rPr>
              <a:t>(Data</a:t>
            </a:r>
            <a:r>
              <a:rPr sz="3200" b="1" spc="-190" dirty="0">
                <a:latin typeface="Arial"/>
                <a:cs typeface="Arial"/>
              </a:rPr>
              <a:t> </a:t>
            </a:r>
            <a:r>
              <a:rPr sz="3200" b="1" spc="55" dirty="0">
                <a:latin typeface="Arial"/>
                <a:cs typeface="Arial"/>
              </a:rPr>
              <a:t>Definition</a:t>
            </a:r>
            <a:r>
              <a:rPr sz="3200" b="1" spc="-1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Language)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subconjunto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apresenta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comandos </a:t>
            </a:r>
            <a:r>
              <a:rPr sz="3200" spc="180" dirty="0">
                <a:latin typeface="Trebuchet MS"/>
                <a:cs typeface="Trebuchet MS"/>
              </a:rPr>
              <a:t>usados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gerenciar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estruturas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dados.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75" dirty="0">
                <a:latin typeface="Trebuchet MS"/>
                <a:cs typeface="Trebuchet MS"/>
              </a:rPr>
              <a:t>Com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ele,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podemos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criar, </a:t>
            </a:r>
            <a:r>
              <a:rPr sz="3200" dirty="0">
                <a:latin typeface="Trebuchet MS"/>
                <a:cs typeface="Trebuchet MS"/>
              </a:rPr>
              <a:t>atualizar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remover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objetos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base,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tabelas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índices.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comandos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definidos </a:t>
            </a:r>
            <a:r>
              <a:rPr sz="3200" dirty="0">
                <a:latin typeface="Trebuchet MS"/>
                <a:cs typeface="Trebuchet MS"/>
              </a:rPr>
              <a:t>pelo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DDL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são: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CREATE,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330" dirty="0">
                <a:latin typeface="Trebuchet MS"/>
                <a:cs typeface="Trebuchet MS"/>
              </a:rPr>
              <a:t>DROP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ALTER.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253" y="5016499"/>
            <a:ext cx="13848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05" dirty="0">
                <a:solidFill>
                  <a:srgbClr val="FF904D"/>
                </a:solidFill>
                <a:latin typeface="Arial"/>
                <a:cs typeface="Arial"/>
              </a:rPr>
              <a:t>DCL: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-10" dirty="0">
                <a:solidFill>
                  <a:srgbClr val="FF904D"/>
                </a:solidFill>
                <a:latin typeface="Arial"/>
                <a:cs typeface="Arial"/>
              </a:rPr>
              <a:t>linguagem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114" dirty="0">
                <a:solidFill>
                  <a:srgbClr val="FF904D"/>
                </a:solidFill>
                <a:latin typeface="Arial"/>
                <a:cs typeface="Arial"/>
              </a:rPr>
              <a:t>de</a:t>
            </a:r>
            <a:r>
              <a:rPr sz="6000" b="1" spc="-32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195" dirty="0">
                <a:solidFill>
                  <a:srgbClr val="FF904D"/>
                </a:solidFill>
                <a:latin typeface="Arial"/>
                <a:cs typeface="Arial"/>
              </a:rPr>
              <a:t>controle</a:t>
            </a:r>
            <a:r>
              <a:rPr sz="6000" b="1" spc="-3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114" dirty="0">
                <a:solidFill>
                  <a:srgbClr val="FF904D"/>
                </a:solidFill>
                <a:latin typeface="Arial"/>
                <a:cs typeface="Arial"/>
              </a:rPr>
              <a:t>de</a:t>
            </a:r>
            <a:r>
              <a:rPr sz="6000" b="1" spc="-32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6000" b="1" spc="60" dirty="0">
                <a:solidFill>
                  <a:srgbClr val="FF904D"/>
                </a:solidFill>
                <a:latin typeface="Arial"/>
                <a:cs typeface="Arial"/>
              </a:rPr>
              <a:t>dados</a:t>
            </a:r>
            <a:endParaRPr sz="6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6464420"/>
            <a:ext cx="15706090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Arial"/>
                <a:cs typeface="Arial"/>
              </a:rPr>
              <a:t>DCL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spc="150" dirty="0">
                <a:latin typeface="Arial"/>
                <a:cs typeface="Arial"/>
              </a:rPr>
              <a:t>(Data</a:t>
            </a:r>
            <a:r>
              <a:rPr sz="3200" b="1" spc="-190" dirty="0">
                <a:latin typeface="Arial"/>
                <a:cs typeface="Arial"/>
              </a:rPr>
              <a:t> </a:t>
            </a:r>
            <a:r>
              <a:rPr sz="3200" b="1" spc="120" dirty="0">
                <a:latin typeface="Arial"/>
                <a:cs typeface="Arial"/>
              </a:rPr>
              <a:t>Control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Language)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subconjunto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qual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encontramos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comandos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controlar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acesso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aos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nossa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base.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Utilizando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esse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conjunto, </a:t>
            </a:r>
            <a:r>
              <a:rPr sz="3200" spc="120" dirty="0">
                <a:latin typeface="Trebuchet MS"/>
                <a:cs typeface="Trebuchet MS"/>
              </a:rPr>
              <a:t>conseguimos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estabelecer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restrições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permissões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quem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10" dirty="0">
                <a:latin typeface="Trebuchet MS"/>
                <a:cs typeface="Trebuchet MS"/>
              </a:rPr>
              <a:t>acessa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por </a:t>
            </a:r>
            <a:r>
              <a:rPr sz="3200" dirty="0">
                <a:latin typeface="Trebuchet MS"/>
                <a:cs typeface="Trebuchet MS"/>
              </a:rPr>
              <a:t>meio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comandos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10" dirty="0">
                <a:latin typeface="Trebuchet MS"/>
                <a:cs typeface="Trebuchet MS"/>
              </a:rPr>
              <a:t>GRANT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REVOKE.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2514" y="234658"/>
            <a:ext cx="14745969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19190" marR="5080" indent="-6207125">
              <a:lnSpc>
                <a:spcPct val="116700"/>
              </a:lnSpc>
              <a:spcBef>
                <a:spcPts val="95"/>
              </a:spcBef>
            </a:pPr>
            <a:r>
              <a:rPr sz="6000" spc="-60" dirty="0">
                <a:solidFill>
                  <a:srgbClr val="FF904D"/>
                </a:solidFill>
              </a:rPr>
              <a:t>DTL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-100" dirty="0">
                <a:solidFill>
                  <a:srgbClr val="FF904D"/>
                </a:solidFill>
              </a:rPr>
              <a:t>ou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-140" dirty="0">
                <a:solidFill>
                  <a:srgbClr val="FF904D"/>
                </a:solidFill>
              </a:rPr>
              <a:t>TCL: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linguagem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320" dirty="0">
                <a:solidFill>
                  <a:srgbClr val="FF904D"/>
                </a:solidFill>
              </a:rPr>
              <a:t>transação</a:t>
            </a:r>
            <a:r>
              <a:rPr sz="6000" spc="-330" dirty="0">
                <a:solidFill>
                  <a:srgbClr val="FF904D"/>
                </a:solidFill>
              </a:rPr>
              <a:t> </a:t>
            </a:r>
            <a:r>
              <a:rPr sz="6000" spc="90" dirty="0">
                <a:solidFill>
                  <a:srgbClr val="FF904D"/>
                </a:solidFill>
              </a:rPr>
              <a:t>de </a:t>
            </a:r>
            <a:r>
              <a:rPr sz="6000" spc="60" dirty="0">
                <a:solidFill>
                  <a:srgbClr val="FF904D"/>
                </a:solidFill>
              </a:rPr>
              <a:t>dados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016000" y="3009825"/>
            <a:ext cx="16014065" cy="283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Arial"/>
                <a:cs typeface="Arial"/>
              </a:rPr>
              <a:t>DTL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spc="150" dirty="0">
                <a:latin typeface="Arial"/>
                <a:cs typeface="Arial"/>
              </a:rPr>
              <a:t>(Data</a:t>
            </a:r>
            <a:r>
              <a:rPr sz="3200" b="1" spc="-190" dirty="0">
                <a:latin typeface="Arial"/>
                <a:cs typeface="Arial"/>
              </a:rPr>
              <a:t> </a:t>
            </a:r>
            <a:r>
              <a:rPr sz="3200" b="1" spc="95" dirty="0">
                <a:latin typeface="Arial"/>
                <a:cs typeface="Arial"/>
              </a:rPr>
              <a:t>Transaction</a:t>
            </a:r>
            <a:r>
              <a:rPr sz="3200" b="1" spc="-1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Language)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spc="985" dirty="0">
                <a:latin typeface="Trebuchet MS"/>
                <a:cs typeface="Trebuchet MS"/>
              </a:rPr>
              <a:t>—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também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conhecido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TCL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(Transaction </a:t>
            </a:r>
            <a:r>
              <a:rPr sz="3200" spc="120" dirty="0">
                <a:latin typeface="Trebuchet MS"/>
                <a:cs typeface="Trebuchet MS"/>
              </a:rPr>
              <a:t>Control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Language)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985" dirty="0">
                <a:latin typeface="Trebuchet MS"/>
                <a:cs typeface="Trebuchet MS"/>
              </a:rPr>
              <a:t>—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subconjunto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290" dirty="0">
                <a:latin typeface="Trebuchet MS"/>
                <a:cs typeface="Trebuchet MS"/>
              </a:rPr>
              <a:t>SQL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define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comandos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utilizamos </a:t>
            </a:r>
            <a:r>
              <a:rPr sz="3200" spc="120" dirty="0">
                <a:latin typeface="Trebuchet MS"/>
                <a:cs typeface="Trebuchet MS"/>
              </a:rPr>
              <a:t>quando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necessário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gerenciar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transações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feitas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no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banco.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significa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eles </a:t>
            </a:r>
            <a:r>
              <a:rPr sz="3200" spc="60" dirty="0">
                <a:latin typeface="Trebuchet MS"/>
                <a:cs typeface="Trebuchet MS"/>
              </a:rPr>
              <a:t>permitem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iniciar,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confirmar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desfazer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determinadas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alterações.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comandos </a:t>
            </a:r>
            <a:r>
              <a:rPr sz="3200" spc="85" dirty="0">
                <a:latin typeface="Trebuchet MS"/>
                <a:cs typeface="Trebuchet MS"/>
              </a:rPr>
              <a:t>estabelecidos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pelo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conjunto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COMMIT,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BEGIN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ROLLBACK.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5956" y="3224280"/>
            <a:ext cx="13401674" cy="4210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9195" y="127135"/>
            <a:ext cx="16438512" cy="1371174"/>
          </a:xfrm>
          <a:prstGeom prst="rect">
            <a:avLst/>
          </a:prstGeom>
        </p:spPr>
        <p:txBody>
          <a:bodyPr vert="horz" wrap="square" lIns="0" tIns="430813" rIns="0" bIns="0" rtlCol="0">
            <a:spAutoFit/>
          </a:bodyPr>
          <a:lstStyle/>
          <a:p>
            <a:pPr marL="2473325">
              <a:lnSpc>
                <a:spcPct val="100000"/>
              </a:lnSpc>
              <a:spcBef>
                <a:spcPts val="100"/>
              </a:spcBef>
            </a:pPr>
            <a:r>
              <a:rPr sz="6000" spc="105" dirty="0">
                <a:solidFill>
                  <a:srgbClr val="FF904D"/>
                </a:solidFill>
              </a:rPr>
              <a:t>Consultas</a:t>
            </a:r>
            <a:r>
              <a:rPr sz="6000" spc="-295" dirty="0">
                <a:solidFill>
                  <a:srgbClr val="FF904D"/>
                </a:solidFill>
              </a:rPr>
              <a:t> </a:t>
            </a:r>
            <a:r>
              <a:rPr sz="6000" spc="125" dirty="0" err="1">
                <a:solidFill>
                  <a:srgbClr val="FF904D"/>
                </a:solidFill>
              </a:rPr>
              <a:t>em</a:t>
            </a:r>
            <a:r>
              <a:rPr sz="6000" spc="-290" dirty="0">
                <a:solidFill>
                  <a:srgbClr val="FF904D"/>
                </a:solidFill>
              </a:rPr>
              <a:t> </a:t>
            </a:r>
            <a:r>
              <a:rPr sz="6000" dirty="0">
                <a:solidFill>
                  <a:srgbClr val="FF904D"/>
                </a:solidFill>
              </a:rPr>
              <a:t>Ban</a:t>
            </a:r>
            <a:r>
              <a:rPr lang="pt-BR" sz="6000" dirty="0" err="1">
                <a:solidFill>
                  <a:srgbClr val="FF904D"/>
                </a:solidFill>
              </a:rPr>
              <a:t>c</a:t>
            </a:r>
            <a:r>
              <a:rPr sz="6000" dirty="0">
                <a:solidFill>
                  <a:srgbClr val="FF904D"/>
                </a:solidFill>
              </a:rPr>
              <a:t>o</a:t>
            </a:r>
            <a:r>
              <a:rPr sz="6000" spc="-29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290" dirty="0">
                <a:solidFill>
                  <a:srgbClr val="FF904D"/>
                </a:solidFill>
              </a:rPr>
              <a:t> </a:t>
            </a:r>
            <a:r>
              <a:rPr sz="6000" spc="105" dirty="0">
                <a:solidFill>
                  <a:srgbClr val="FF904D"/>
                </a:solidFill>
              </a:rPr>
              <a:t>Dados</a:t>
            </a:r>
            <a:endParaRPr sz="6000" dirty="0"/>
          </a:p>
        </p:txBody>
      </p:sp>
      <p:sp>
        <p:nvSpPr>
          <p:cNvPr id="4" name="object 4"/>
          <p:cNvSpPr txBox="1"/>
          <p:nvPr/>
        </p:nvSpPr>
        <p:spPr>
          <a:xfrm>
            <a:off x="1028245" y="1885014"/>
            <a:ext cx="14571344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99280" marR="5080" indent="-4387215">
              <a:lnSpc>
                <a:spcPct val="115199"/>
              </a:lnSpc>
              <a:spcBef>
                <a:spcPts val="100"/>
              </a:spcBef>
            </a:pPr>
            <a:r>
              <a:rPr sz="3200" spc="475" dirty="0">
                <a:latin typeface="Trebuchet MS"/>
                <a:cs typeface="Trebuchet MS"/>
              </a:rPr>
              <a:t>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comando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b="1" spc="-60" dirty="0">
                <a:solidFill>
                  <a:srgbClr val="FF904D"/>
                </a:solidFill>
                <a:latin typeface="Arial"/>
                <a:cs typeface="Arial"/>
              </a:rPr>
              <a:t>SELECT</a:t>
            </a:r>
            <a:r>
              <a:rPr sz="3200" b="1" spc="-1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permite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recuperar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objeto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de </a:t>
            </a:r>
            <a:r>
              <a:rPr sz="3200" spc="80" dirty="0">
                <a:latin typeface="Trebuchet MS"/>
                <a:cs typeface="Trebuchet MS"/>
              </a:rPr>
              <a:t>dados,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tabela,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view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3598" y="7869950"/>
            <a:ext cx="13401040" cy="1720214"/>
          </a:xfrm>
          <a:prstGeom prst="rect">
            <a:avLst/>
          </a:prstGeom>
          <a:solidFill>
            <a:srgbClr val="606BF5"/>
          </a:solidFill>
        </p:spPr>
        <p:txBody>
          <a:bodyPr vert="horz" wrap="square" lIns="0" tIns="235585" rIns="0" bIns="0" rtlCol="0">
            <a:spAutoFit/>
          </a:bodyPr>
          <a:lstStyle/>
          <a:p>
            <a:pPr marL="3969385" marR="629285" indent="-3329940">
              <a:lnSpc>
                <a:spcPct val="115199"/>
              </a:lnSpc>
              <a:spcBef>
                <a:spcPts val="1855"/>
              </a:spcBef>
            </a:pPr>
            <a:r>
              <a:rPr sz="3200" b="1" spc="220" dirty="0">
                <a:latin typeface="Arial"/>
                <a:cs typeface="Arial"/>
              </a:rPr>
              <a:t>Para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spc="45" dirty="0">
                <a:latin typeface="Arial"/>
                <a:cs typeface="Arial"/>
              </a:rPr>
              <a:t>selecionar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apenas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DE58"/>
                </a:solidFill>
                <a:latin typeface="Arial"/>
                <a:cs typeface="Arial"/>
              </a:rPr>
              <a:t>nome</a:t>
            </a:r>
            <a:r>
              <a:rPr sz="3200" b="1" spc="-170" dirty="0">
                <a:solidFill>
                  <a:srgbClr val="FFDE58"/>
                </a:solidFill>
                <a:latin typeface="Arial"/>
                <a:cs typeface="Arial"/>
              </a:rPr>
              <a:t> </a:t>
            </a:r>
            <a:r>
              <a:rPr sz="3200" b="1" spc="120" dirty="0">
                <a:latin typeface="Arial"/>
                <a:cs typeface="Arial"/>
              </a:rPr>
              <a:t>e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114" dirty="0">
                <a:solidFill>
                  <a:srgbClr val="FFDE58"/>
                </a:solidFill>
                <a:latin typeface="Arial"/>
                <a:cs typeface="Arial"/>
              </a:rPr>
              <a:t>preço</a:t>
            </a:r>
            <a:r>
              <a:rPr sz="3200" b="1" spc="-175" dirty="0">
                <a:solidFill>
                  <a:srgbClr val="FFDE58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dos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70" dirty="0">
                <a:latin typeface="Arial"/>
                <a:cs typeface="Arial"/>
              </a:rPr>
              <a:t>produtos,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spc="55" dirty="0">
                <a:latin typeface="Arial"/>
                <a:cs typeface="Arial"/>
              </a:rPr>
              <a:t>você </a:t>
            </a:r>
            <a:r>
              <a:rPr sz="3200" b="1" spc="90" dirty="0">
                <a:latin typeface="Arial"/>
                <a:cs typeface="Arial"/>
              </a:rPr>
              <a:t>usaria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</a:t>
            </a:r>
            <a:r>
              <a:rPr sz="3200" b="1" spc="-185" dirty="0">
                <a:latin typeface="Arial"/>
                <a:cs typeface="Arial"/>
              </a:rPr>
              <a:t> </a:t>
            </a:r>
            <a:r>
              <a:rPr sz="3200" b="1" spc="45" dirty="0">
                <a:latin typeface="Arial"/>
                <a:cs typeface="Arial"/>
              </a:rPr>
              <a:t>seguinte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comando: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765680"/>
            <a:ext cx="9277349" cy="2209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70588" y="1589403"/>
            <a:ext cx="4143374" cy="3733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6776541"/>
            <a:ext cx="6734174" cy="2305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45203" y="6580880"/>
            <a:ext cx="6400799" cy="36194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4744" y="51366"/>
            <a:ext cx="16438512" cy="977334"/>
          </a:xfrm>
          <a:prstGeom prst="rect">
            <a:avLst/>
          </a:prstGeom>
        </p:spPr>
        <p:txBody>
          <a:bodyPr vert="horz" wrap="square" lIns="0" tIns="707066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FF904D"/>
                </a:solidFill>
              </a:rPr>
              <a:t>Exemplo</a:t>
            </a:r>
            <a:r>
              <a:rPr spc="-260" dirty="0">
                <a:solidFill>
                  <a:srgbClr val="FF904D"/>
                </a:solidFill>
              </a:rPr>
              <a:t> </a:t>
            </a:r>
            <a:r>
              <a:rPr spc="-295" dirty="0">
                <a:solidFill>
                  <a:srgbClr val="FF904D"/>
                </a:solidFill>
              </a:rPr>
              <a:t>1:</a:t>
            </a:r>
            <a:r>
              <a:rPr spc="-254" dirty="0">
                <a:solidFill>
                  <a:srgbClr val="FF904D"/>
                </a:solidFill>
              </a:rPr>
              <a:t> </a:t>
            </a:r>
            <a:r>
              <a:rPr dirty="0">
                <a:solidFill>
                  <a:srgbClr val="FF904D"/>
                </a:solidFill>
              </a:rPr>
              <a:t>Selecionando</a:t>
            </a:r>
            <a:r>
              <a:rPr spc="-254" dirty="0">
                <a:solidFill>
                  <a:srgbClr val="FF904D"/>
                </a:solidFill>
              </a:rPr>
              <a:t> </a:t>
            </a:r>
            <a:r>
              <a:rPr spc="114" dirty="0">
                <a:solidFill>
                  <a:srgbClr val="FF904D"/>
                </a:solidFill>
              </a:rPr>
              <a:t>Campos</a:t>
            </a:r>
            <a:r>
              <a:rPr spc="-254" dirty="0">
                <a:solidFill>
                  <a:srgbClr val="FF904D"/>
                </a:solidFill>
              </a:rPr>
              <a:t> </a:t>
            </a:r>
            <a:r>
              <a:rPr spc="-10" dirty="0">
                <a:solidFill>
                  <a:srgbClr val="FF904D"/>
                </a:solidFill>
              </a:rPr>
              <a:t>Específicos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000" y="5476615"/>
            <a:ext cx="12794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35" dirty="0">
                <a:solidFill>
                  <a:srgbClr val="FF904D"/>
                </a:solidFill>
                <a:latin typeface="Arial"/>
                <a:cs typeface="Arial"/>
              </a:rPr>
              <a:t>Exemplo</a:t>
            </a:r>
            <a:r>
              <a:rPr sz="4800" b="1" spc="-27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-85" dirty="0">
                <a:solidFill>
                  <a:srgbClr val="FF904D"/>
                </a:solidFill>
                <a:latin typeface="Arial"/>
                <a:cs typeface="Arial"/>
              </a:rPr>
              <a:t>2:</a:t>
            </a:r>
            <a:r>
              <a:rPr sz="4800" b="1" spc="-26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904D"/>
                </a:solidFill>
                <a:latin typeface="Arial"/>
                <a:cs typeface="Arial"/>
              </a:rPr>
              <a:t>Selecionando</a:t>
            </a:r>
            <a:r>
              <a:rPr sz="4800" b="1" spc="-26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904D"/>
                </a:solidFill>
                <a:latin typeface="Arial"/>
                <a:cs typeface="Arial"/>
              </a:rPr>
              <a:t>Todos</a:t>
            </a:r>
            <a:r>
              <a:rPr sz="4800" b="1" spc="-26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-50" dirty="0">
                <a:solidFill>
                  <a:srgbClr val="FF904D"/>
                </a:solidFill>
                <a:latin typeface="Arial"/>
                <a:cs typeface="Arial"/>
              </a:rPr>
              <a:t>os</a:t>
            </a:r>
            <a:r>
              <a:rPr sz="4800" b="1" spc="-26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105" dirty="0">
                <a:solidFill>
                  <a:srgbClr val="FF904D"/>
                </a:solidFill>
                <a:latin typeface="Arial"/>
                <a:cs typeface="Arial"/>
              </a:rPr>
              <a:t>Campos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790917"/>
            <a:ext cx="7067549" cy="26098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8065" y="1790917"/>
            <a:ext cx="5524499" cy="3181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6458458"/>
            <a:ext cx="7067549" cy="2971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9510" y="6307512"/>
            <a:ext cx="3819524" cy="37528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770790"/>
            <a:ext cx="131864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FF904D"/>
                </a:solidFill>
              </a:rPr>
              <a:t>Exemplo</a:t>
            </a:r>
            <a:r>
              <a:rPr spc="-229" dirty="0">
                <a:solidFill>
                  <a:srgbClr val="FF904D"/>
                </a:solidFill>
              </a:rPr>
              <a:t> </a:t>
            </a:r>
            <a:r>
              <a:rPr spc="-50" dirty="0">
                <a:solidFill>
                  <a:srgbClr val="FF904D"/>
                </a:solidFill>
              </a:rPr>
              <a:t>3:</a:t>
            </a:r>
            <a:r>
              <a:rPr spc="-229" dirty="0">
                <a:solidFill>
                  <a:srgbClr val="FF904D"/>
                </a:solidFill>
              </a:rPr>
              <a:t> </a:t>
            </a:r>
            <a:r>
              <a:rPr spc="90" dirty="0">
                <a:solidFill>
                  <a:srgbClr val="FF904D"/>
                </a:solidFill>
              </a:rPr>
              <a:t>Filtrando</a:t>
            </a:r>
            <a:r>
              <a:rPr spc="-229" dirty="0">
                <a:solidFill>
                  <a:srgbClr val="FF904D"/>
                </a:solidFill>
              </a:rPr>
              <a:t> </a:t>
            </a:r>
            <a:r>
              <a:rPr spc="55" dirty="0">
                <a:solidFill>
                  <a:srgbClr val="FF904D"/>
                </a:solidFill>
              </a:rPr>
              <a:t>com</a:t>
            </a:r>
            <a:r>
              <a:rPr spc="-229" dirty="0">
                <a:solidFill>
                  <a:srgbClr val="FF904D"/>
                </a:solidFill>
              </a:rPr>
              <a:t> </a:t>
            </a:r>
            <a:r>
              <a:rPr spc="345" dirty="0">
                <a:solidFill>
                  <a:srgbClr val="FF904D"/>
                </a:solidFill>
              </a:rPr>
              <a:t>a</a:t>
            </a:r>
            <a:r>
              <a:rPr spc="-229" dirty="0">
                <a:solidFill>
                  <a:srgbClr val="FF904D"/>
                </a:solidFill>
              </a:rPr>
              <a:t> </a:t>
            </a:r>
            <a:r>
              <a:rPr dirty="0">
                <a:solidFill>
                  <a:srgbClr val="FF904D"/>
                </a:solidFill>
              </a:rPr>
              <a:t>Cláusula</a:t>
            </a:r>
            <a:r>
              <a:rPr spc="-229" dirty="0">
                <a:solidFill>
                  <a:srgbClr val="FF904D"/>
                </a:solidFill>
              </a:rPr>
              <a:t> </a:t>
            </a:r>
            <a:r>
              <a:rPr spc="50" dirty="0">
                <a:solidFill>
                  <a:srgbClr val="FF904D"/>
                </a:solidFill>
              </a:rPr>
              <a:t>WHERE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000" y="5335033"/>
            <a:ext cx="1478089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35" dirty="0">
                <a:solidFill>
                  <a:srgbClr val="FF904D"/>
                </a:solidFill>
                <a:latin typeface="Arial"/>
                <a:cs typeface="Arial"/>
              </a:rPr>
              <a:t>Exemplo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-20" dirty="0">
                <a:solidFill>
                  <a:srgbClr val="FF904D"/>
                </a:solidFill>
                <a:latin typeface="Arial"/>
                <a:cs typeface="Arial"/>
              </a:rPr>
              <a:t>4: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120" dirty="0">
                <a:solidFill>
                  <a:srgbClr val="FF904D"/>
                </a:solidFill>
                <a:latin typeface="Arial"/>
                <a:cs typeface="Arial"/>
              </a:rPr>
              <a:t>Ordenando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55" dirty="0">
                <a:solidFill>
                  <a:srgbClr val="FF904D"/>
                </a:solidFill>
                <a:latin typeface="Arial"/>
                <a:cs typeface="Arial"/>
              </a:rPr>
              <a:t>com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345" dirty="0">
                <a:solidFill>
                  <a:srgbClr val="FF904D"/>
                </a:solidFill>
                <a:latin typeface="Arial"/>
                <a:cs typeface="Arial"/>
              </a:rPr>
              <a:t>a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904D"/>
                </a:solidFill>
                <a:latin typeface="Arial"/>
                <a:cs typeface="Arial"/>
              </a:rPr>
              <a:t>Cláusula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50" dirty="0">
                <a:solidFill>
                  <a:srgbClr val="FF904D"/>
                </a:solidFill>
                <a:latin typeface="Arial"/>
                <a:cs typeface="Arial"/>
              </a:rPr>
              <a:t>ORDER</a:t>
            </a:r>
            <a:r>
              <a:rPr sz="4800" b="1" spc="-24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4800" b="1" spc="-25" dirty="0">
                <a:solidFill>
                  <a:srgbClr val="FF904D"/>
                </a:solidFill>
                <a:latin typeface="Arial"/>
                <a:cs typeface="Arial"/>
              </a:rPr>
              <a:t>BY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E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577" y="2643587"/>
            <a:ext cx="9353549" cy="2571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6126" y="2643587"/>
            <a:ext cx="5543549" cy="29432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63042" y="531754"/>
            <a:ext cx="15098394" cy="172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94450" marR="5080" indent="-6382385">
              <a:lnSpc>
                <a:spcPct val="115900"/>
              </a:lnSpc>
              <a:spcBef>
                <a:spcPts val="100"/>
              </a:spcBef>
            </a:pPr>
            <a:r>
              <a:rPr spc="-35" dirty="0"/>
              <a:t>Exemplo</a:t>
            </a:r>
            <a:r>
              <a:rPr spc="-195" dirty="0"/>
              <a:t> </a:t>
            </a:r>
            <a:r>
              <a:rPr dirty="0"/>
              <a:t>5:</a:t>
            </a:r>
            <a:r>
              <a:rPr spc="-195" dirty="0"/>
              <a:t> </a:t>
            </a:r>
            <a:r>
              <a:rPr dirty="0"/>
              <a:t>Combinando</a:t>
            </a:r>
            <a:r>
              <a:rPr spc="-190" dirty="0"/>
              <a:t> </a:t>
            </a:r>
            <a:r>
              <a:rPr dirty="0"/>
              <a:t>Condições</a:t>
            </a:r>
            <a:r>
              <a:rPr spc="-195" dirty="0"/>
              <a:t> </a:t>
            </a:r>
            <a:r>
              <a:rPr spc="55" dirty="0"/>
              <a:t>com</a:t>
            </a:r>
            <a:r>
              <a:rPr spc="-195" dirty="0"/>
              <a:t> </a:t>
            </a:r>
            <a:r>
              <a:rPr spc="345" dirty="0"/>
              <a:t>a</a:t>
            </a:r>
            <a:r>
              <a:rPr spc="-190" dirty="0"/>
              <a:t> </a:t>
            </a:r>
            <a:r>
              <a:rPr spc="-10" dirty="0"/>
              <a:t>Cláusula </a:t>
            </a:r>
            <a:r>
              <a:rPr spc="50" dirty="0"/>
              <a:t>WHERE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699880"/>
            <a:ext cx="16586835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0489">
              <a:lnSpc>
                <a:spcPct val="115199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Bancos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75" dirty="0">
                <a:latin typeface="Arial"/>
                <a:cs typeface="Arial"/>
              </a:rPr>
              <a:t>de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spc="60" dirty="0">
                <a:latin typeface="Arial"/>
                <a:cs typeface="Arial"/>
              </a:rPr>
              <a:t>Dados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spc="-40" dirty="0">
                <a:latin typeface="Arial"/>
                <a:cs typeface="Arial"/>
              </a:rPr>
              <a:t>NoSQL: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Muitos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NoSQL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não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usam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linguagem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265" dirty="0">
                <a:latin typeface="Trebuchet MS"/>
                <a:cs typeface="Trebuchet MS"/>
              </a:rPr>
              <a:t>SQL </a:t>
            </a:r>
            <a:r>
              <a:rPr sz="3200" spc="-10" dirty="0">
                <a:latin typeface="Trebuchet MS"/>
                <a:cs typeface="Trebuchet MS"/>
              </a:rPr>
              <a:t>tradicional.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podem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ter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suas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próprias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linguagens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consulta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ou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abordagens </a:t>
            </a:r>
            <a:r>
              <a:rPr sz="3200" spc="95" dirty="0">
                <a:latin typeface="Trebuchet MS"/>
                <a:cs typeface="Trebuchet MS"/>
              </a:rPr>
              <a:t>específicas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recuperar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dados.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5199"/>
              </a:lnSpc>
            </a:pPr>
            <a:r>
              <a:rPr sz="3200" spc="175" dirty="0">
                <a:latin typeface="Trebuchet MS"/>
                <a:cs typeface="Trebuchet MS"/>
              </a:rPr>
              <a:t>Por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exemplo,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54" dirty="0">
                <a:latin typeface="Trebuchet MS"/>
                <a:cs typeface="Trebuchet MS"/>
              </a:rPr>
              <a:t>MongoDB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utiliza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linguagem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consulta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chamada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"MongoDB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Query </a:t>
            </a:r>
            <a:r>
              <a:rPr sz="3200" dirty="0">
                <a:latin typeface="Trebuchet MS"/>
                <a:cs typeface="Trebuchet MS"/>
              </a:rPr>
              <a:t>Language",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diferente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SQL.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356166"/>
            <a:ext cx="16438512" cy="977334"/>
          </a:xfrm>
          <a:prstGeom prst="rect">
            <a:avLst/>
          </a:prstGeom>
        </p:spPr>
        <p:txBody>
          <a:bodyPr vert="horz" wrap="square" lIns="0" tIns="274257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FF904D"/>
                </a:solidFill>
              </a:rPr>
              <a:t>NoSQL</a:t>
            </a:r>
            <a:endParaRPr sz="6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0576" y="2620679"/>
            <a:ext cx="128574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45" dirty="0">
                <a:latin typeface="Arial"/>
                <a:cs typeface="Arial"/>
              </a:rPr>
              <a:t>select</a:t>
            </a:r>
            <a:r>
              <a:rPr sz="4800" b="1" spc="-270" dirty="0">
                <a:latin typeface="Arial"/>
                <a:cs typeface="Arial"/>
              </a:rPr>
              <a:t> </a:t>
            </a:r>
            <a:r>
              <a:rPr sz="4800" b="1" spc="295" dirty="0">
                <a:latin typeface="Arial"/>
                <a:cs typeface="Arial"/>
              </a:rPr>
              <a:t>*</a:t>
            </a:r>
            <a:r>
              <a:rPr sz="4800" b="1" spc="-260" dirty="0">
                <a:latin typeface="Arial"/>
                <a:cs typeface="Arial"/>
              </a:rPr>
              <a:t> </a:t>
            </a:r>
            <a:r>
              <a:rPr sz="4800" b="1" spc="315" dirty="0">
                <a:latin typeface="Arial"/>
                <a:cs typeface="Arial"/>
              </a:rPr>
              <a:t>from</a:t>
            </a:r>
            <a:r>
              <a:rPr sz="4800" b="1" spc="-260" dirty="0">
                <a:latin typeface="Arial"/>
                <a:cs typeface="Arial"/>
              </a:rPr>
              <a:t> </a:t>
            </a:r>
            <a:r>
              <a:rPr sz="4800" b="1" spc="145" dirty="0">
                <a:latin typeface="Arial"/>
                <a:cs typeface="Arial"/>
              </a:rPr>
              <a:t>Produtos</a:t>
            </a:r>
            <a:r>
              <a:rPr sz="4800" b="1" spc="-260" dirty="0">
                <a:latin typeface="Arial"/>
                <a:cs typeface="Arial"/>
              </a:rPr>
              <a:t> </a:t>
            </a:r>
            <a:r>
              <a:rPr sz="4800" b="1" spc="-175" dirty="0">
                <a:latin typeface="Arial"/>
                <a:cs typeface="Arial"/>
              </a:rPr>
              <a:t>=</a:t>
            </a:r>
            <a:r>
              <a:rPr sz="4800" b="1" spc="-254" dirty="0">
                <a:latin typeface="Arial"/>
                <a:cs typeface="Arial"/>
              </a:rPr>
              <a:t> </a:t>
            </a:r>
            <a:r>
              <a:rPr sz="4800" b="1" spc="-10" dirty="0">
                <a:latin typeface="Arial"/>
                <a:cs typeface="Arial"/>
              </a:rPr>
              <a:t>db.Produtos.find()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8017" y="3953888"/>
            <a:ext cx="1652333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22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função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find()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Linguagem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Consulta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54" dirty="0">
                <a:latin typeface="Trebuchet MS"/>
                <a:cs typeface="Trebuchet MS"/>
              </a:rPr>
              <a:t>MongoDB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(MQL)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fornece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maneira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mais </a:t>
            </a:r>
            <a:r>
              <a:rPr sz="3200" dirty="0">
                <a:latin typeface="Trebuchet MS"/>
                <a:cs typeface="Trebuchet MS"/>
              </a:rPr>
              <a:t>fácil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recuperar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vários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documentos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dentro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suas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coleções.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Essa </a:t>
            </a:r>
            <a:r>
              <a:rPr sz="3200" spc="145" dirty="0">
                <a:latin typeface="Trebuchet MS"/>
                <a:cs typeface="Trebuchet MS"/>
              </a:rPr>
              <a:t>função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aquela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usará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frequentemente.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1396" y="230506"/>
            <a:ext cx="62128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0190" algn="l"/>
              </a:tabLst>
            </a:pPr>
            <a:r>
              <a:rPr sz="6000" spc="95" dirty="0">
                <a:solidFill>
                  <a:srgbClr val="FF904D"/>
                </a:solidFill>
              </a:rPr>
              <a:t>MongoDB</a:t>
            </a:r>
            <a:r>
              <a:rPr sz="6000" dirty="0">
                <a:solidFill>
                  <a:srgbClr val="FF904D"/>
                </a:solidFill>
              </a:rPr>
              <a:t>	</a:t>
            </a:r>
            <a:r>
              <a:rPr sz="6000" spc="-85" dirty="0">
                <a:solidFill>
                  <a:srgbClr val="FF904D"/>
                </a:solidFill>
              </a:rPr>
              <a:t>(MQL)</a:t>
            </a:r>
            <a:endParaRPr sz="6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972" y="7337868"/>
            <a:ext cx="16831310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165" dirty="0">
                <a:latin typeface="Trebuchet MS"/>
                <a:cs typeface="Trebuchet MS"/>
              </a:rPr>
              <a:t>Nesta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consulta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MQL,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estamos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usando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operador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35" dirty="0">
                <a:latin typeface="Trebuchet MS"/>
                <a:cs typeface="Trebuchet MS"/>
              </a:rPr>
              <a:t>$gt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(greater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than)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60" dirty="0">
                <a:latin typeface="Trebuchet MS"/>
                <a:cs typeface="Trebuchet MS"/>
              </a:rPr>
              <a:t>buscar </a:t>
            </a:r>
            <a:r>
              <a:rPr sz="3200" spc="135" dirty="0">
                <a:latin typeface="Trebuchet MS"/>
                <a:cs typeface="Trebuchet MS"/>
              </a:rPr>
              <a:t>documentos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coleção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"Produtos"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onde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valor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campo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"preco"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seja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maior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do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50. </a:t>
            </a:r>
            <a:r>
              <a:rPr sz="3200" spc="114" dirty="0">
                <a:latin typeface="Trebuchet MS"/>
                <a:cs typeface="Trebuchet MS"/>
              </a:rPr>
              <a:t>Isso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similar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ao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você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faria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cláusula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WHERE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na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consulta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SQL.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1668" y="2173669"/>
            <a:ext cx="12179300" cy="432244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5460365">
              <a:lnSpc>
                <a:spcPct val="100000"/>
              </a:lnSpc>
              <a:spcBef>
                <a:spcPts val="1330"/>
              </a:spcBef>
            </a:pPr>
            <a:r>
              <a:rPr sz="4800" b="1" spc="-25" dirty="0">
                <a:latin typeface="Arial"/>
                <a:cs typeface="Arial"/>
              </a:rPr>
              <a:t>SQL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4800" b="1" spc="145" dirty="0">
                <a:latin typeface="Arial"/>
                <a:cs typeface="Arial"/>
              </a:rPr>
              <a:t>select</a:t>
            </a:r>
            <a:r>
              <a:rPr sz="4800" b="1" spc="-260" dirty="0">
                <a:latin typeface="Arial"/>
                <a:cs typeface="Arial"/>
              </a:rPr>
              <a:t> </a:t>
            </a:r>
            <a:r>
              <a:rPr sz="4800" b="1" spc="295" dirty="0">
                <a:latin typeface="Arial"/>
                <a:cs typeface="Arial"/>
              </a:rPr>
              <a:t>*</a:t>
            </a:r>
            <a:r>
              <a:rPr sz="4800" b="1" spc="-260" dirty="0">
                <a:latin typeface="Arial"/>
                <a:cs typeface="Arial"/>
              </a:rPr>
              <a:t> </a:t>
            </a:r>
            <a:r>
              <a:rPr sz="4800" b="1" spc="315" dirty="0">
                <a:latin typeface="Arial"/>
                <a:cs typeface="Arial"/>
              </a:rPr>
              <a:t>from</a:t>
            </a:r>
            <a:r>
              <a:rPr sz="4800" b="1" spc="-254" dirty="0">
                <a:latin typeface="Arial"/>
                <a:cs typeface="Arial"/>
              </a:rPr>
              <a:t> </a:t>
            </a:r>
            <a:r>
              <a:rPr sz="4800" b="1" spc="145" dirty="0">
                <a:latin typeface="Arial"/>
                <a:cs typeface="Arial"/>
              </a:rPr>
              <a:t>Produtos</a:t>
            </a:r>
            <a:r>
              <a:rPr sz="4800" b="1" spc="-260" dirty="0">
                <a:latin typeface="Arial"/>
                <a:cs typeface="Arial"/>
              </a:rPr>
              <a:t> </a:t>
            </a:r>
            <a:r>
              <a:rPr sz="4800" b="1" spc="250" dirty="0">
                <a:latin typeface="Arial"/>
                <a:cs typeface="Arial"/>
              </a:rPr>
              <a:t>where</a:t>
            </a:r>
            <a:r>
              <a:rPr sz="4800" b="1" spc="-254" dirty="0">
                <a:latin typeface="Arial"/>
                <a:cs typeface="Arial"/>
              </a:rPr>
              <a:t> </a:t>
            </a:r>
            <a:r>
              <a:rPr sz="4800" b="1" spc="110" dirty="0">
                <a:latin typeface="Arial"/>
                <a:cs typeface="Arial"/>
              </a:rPr>
              <a:t>preço&gt;50;</a:t>
            </a:r>
            <a:endParaRPr sz="4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4800">
              <a:latin typeface="Arial"/>
              <a:cs typeface="Arial"/>
            </a:endParaRPr>
          </a:p>
          <a:p>
            <a:pPr marL="5276850">
              <a:lnSpc>
                <a:spcPct val="100000"/>
              </a:lnSpc>
              <a:spcBef>
                <a:spcPts val="5"/>
              </a:spcBef>
            </a:pPr>
            <a:r>
              <a:rPr sz="4800" b="1" spc="170" dirty="0">
                <a:latin typeface="Arial"/>
                <a:cs typeface="Arial"/>
              </a:rPr>
              <a:t>MQL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4800" b="1" dirty="0">
                <a:latin typeface="Arial"/>
                <a:cs typeface="Arial"/>
              </a:rPr>
              <a:t>db.Produtos.find({</a:t>
            </a:r>
            <a:r>
              <a:rPr sz="4800" b="1" spc="-229" dirty="0">
                <a:latin typeface="Arial"/>
                <a:cs typeface="Arial"/>
              </a:rPr>
              <a:t> </a:t>
            </a:r>
            <a:r>
              <a:rPr sz="4800" b="1" spc="70" dirty="0">
                <a:latin typeface="Arial"/>
                <a:cs typeface="Arial"/>
              </a:rPr>
              <a:t>preco:</a:t>
            </a:r>
            <a:r>
              <a:rPr sz="4800" b="1" spc="-229" dirty="0">
                <a:latin typeface="Arial"/>
                <a:cs typeface="Arial"/>
              </a:rPr>
              <a:t> </a:t>
            </a:r>
            <a:r>
              <a:rPr sz="4800" b="1" spc="-450" dirty="0">
                <a:latin typeface="Arial"/>
                <a:cs typeface="Arial"/>
              </a:rPr>
              <a:t>{</a:t>
            </a:r>
            <a:r>
              <a:rPr sz="4800" b="1" spc="-225" dirty="0">
                <a:latin typeface="Arial"/>
                <a:cs typeface="Arial"/>
              </a:rPr>
              <a:t> </a:t>
            </a:r>
            <a:r>
              <a:rPr sz="4800" b="1" spc="210" dirty="0">
                <a:latin typeface="Arial"/>
                <a:cs typeface="Arial"/>
              </a:rPr>
              <a:t>$gt:</a:t>
            </a:r>
            <a:r>
              <a:rPr sz="4800" b="1" spc="-229" dirty="0">
                <a:latin typeface="Arial"/>
                <a:cs typeface="Arial"/>
              </a:rPr>
              <a:t> </a:t>
            </a:r>
            <a:r>
              <a:rPr sz="4800" b="1" spc="600" dirty="0">
                <a:latin typeface="Arial"/>
                <a:cs typeface="Arial"/>
              </a:rPr>
              <a:t>50</a:t>
            </a:r>
            <a:r>
              <a:rPr sz="4800" b="1" spc="-225" dirty="0">
                <a:latin typeface="Arial"/>
                <a:cs typeface="Arial"/>
              </a:rPr>
              <a:t> </a:t>
            </a:r>
            <a:r>
              <a:rPr sz="4800" b="1" spc="-450" dirty="0">
                <a:latin typeface="Arial"/>
                <a:cs typeface="Arial"/>
              </a:rPr>
              <a:t>}</a:t>
            </a:r>
            <a:r>
              <a:rPr sz="4800" b="1" spc="-229" dirty="0">
                <a:latin typeface="Arial"/>
                <a:cs typeface="Arial"/>
              </a:rPr>
              <a:t> </a:t>
            </a:r>
            <a:r>
              <a:rPr sz="4800" b="1" spc="-480" dirty="0">
                <a:latin typeface="Arial"/>
                <a:cs typeface="Arial"/>
              </a:rPr>
              <a:t>});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1396" y="230503"/>
            <a:ext cx="62128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0190" algn="l"/>
              </a:tabLst>
            </a:pPr>
            <a:r>
              <a:rPr sz="6000" spc="95" dirty="0">
                <a:solidFill>
                  <a:srgbClr val="FF904D"/>
                </a:solidFill>
              </a:rPr>
              <a:t>MongoDB</a:t>
            </a:r>
            <a:r>
              <a:rPr sz="6000" dirty="0">
                <a:solidFill>
                  <a:srgbClr val="FF904D"/>
                </a:solidFill>
              </a:rPr>
              <a:t>	</a:t>
            </a:r>
            <a:r>
              <a:rPr sz="6000" spc="-85" dirty="0">
                <a:solidFill>
                  <a:srgbClr val="FF904D"/>
                </a:solidFill>
              </a:rPr>
              <a:t>(MQL)</a:t>
            </a:r>
            <a:endParaRPr sz="6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036" y="3189295"/>
            <a:ext cx="10783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70" dirty="0">
                <a:latin typeface="Arial"/>
                <a:cs typeface="Arial"/>
              </a:rPr>
              <a:t>1.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dirty="0">
                <a:latin typeface="Arial"/>
                <a:cs typeface="Arial"/>
              </a:rPr>
              <a:t>Bancos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35" dirty="0">
                <a:latin typeface="Arial"/>
                <a:cs typeface="Arial"/>
              </a:rPr>
              <a:t> </a:t>
            </a:r>
            <a:r>
              <a:rPr sz="4800" b="1" spc="85" dirty="0">
                <a:latin typeface="Arial"/>
                <a:cs typeface="Arial"/>
              </a:rPr>
              <a:t>Dados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35" dirty="0">
                <a:latin typeface="Arial"/>
                <a:cs typeface="Arial"/>
              </a:rPr>
              <a:t> </a:t>
            </a:r>
            <a:r>
              <a:rPr sz="4800" b="1" spc="-10" dirty="0">
                <a:latin typeface="Arial"/>
                <a:cs typeface="Arial"/>
              </a:rPr>
              <a:t>Documentos: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036" y="4537387"/>
            <a:ext cx="1556448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documentos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armazenam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informações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documentos </a:t>
            </a:r>
            <a:r>
              <a:rPr sz="3200" spc="75" dirty="0">
                <a:latin typeface="Trebuchet MS"/>
                <a:cs typeface="Trebuchet MS"/>
              </a:rPr>
              <a:t>semelhantes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JSON.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80" dirty="0">
                <a:latin typeface="Trebuchet MS"/>
                <a:cs typeface="Trebuchet MS"/>
              </a:rPr>
              <a:t>Cada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documento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autônomo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conter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diferentes </a:t>
            </a:r>
            <a:r>
              <a:rPr sz="3200" spc="145" dirty="0">
                <a:latin typeface="Trebuchet MS"/>
                <a:cs typeface="Trebuchet MS"/>
              </a:rPr>
              <a:t>estruturas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dados.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Essa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flexibilidade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torna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documentos </a:t>
            </a:r>
            <a:r>
              <a:rPr sz="3200" spc="155" dirty="0">
                <a:latin typeface="Trebuchet MS"/>
                <a:cs typeface="Trebuchet MS"/>
              </a:rPr>
              <a:t>adequados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aplicações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com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esquemas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variáveis.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4617" y="7419029"/>
            <a:ext cx="9563099" cy="25812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4679" y="430283"/>
            <a:ext cx="1742440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11240" marR="5080" indent="-6099175">
              <a:lnSpc>
                <a:spcPct val="116700"/>
              </a:lnSpc>
              <a:spcBef>
                <a:spcPts val="95"/>
              </a:spcBef>
            </a:pPr>
            <a:r>
              <a:rPr sz="6000" spc="125" dirty="0">
                <a:solidFill>
                  <a:srgbClr val="FF904D"/>
                </a:solidFill>
              </a:rPr>
              <a:t>Exploração</a:t>
            </a:r>
            <a:r>
              <a:rPr sz="6000" spc="-315" dirty="0">
                <a:solidFill>
                  <a:srgbClr val="FF904D"/>
                </a:solidFill>
              </a:rPr>
              <a:t> </a:t>
            </a:r>
            <a:r>
              <a:rPr sz="6000" spc="-20" dirty="0">
                <a:solidFill>
                  <a:srgbClr val="FF904D"/>
                </a:solidFill>
              </a:rPr>
              <a:t>dos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275" dirty="0">
                <a:solidFill>
                  <a:srgbClr val="FF904D"/>
                </a:solidFill>
              </a:rPr>
              <a:t>Diferentes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-55" dirty="0">
                <a:solidFill>
                  <a:srgbClr val="FF904D"/>
                </a:solidFill>
              </a:rPr>
              <a:t>Tipos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dirty="0">
                <a:solidFill>
                  <a:srgbClr val="FF904D"/>
                </a:solidFill>
              </a:rPr>
              <a:t>Bancos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90" dirty="0">
                <a:solidFill>
                  <a:srgbClr val="FF904D"/>
                </a:solidFill>
              </a:rPr>
              <a:t>de </a:t>
            </a:r>
            <a:r>
              <a:rPr sz="6000" spc="114" dirty="0">
                <a:solidFill>
                  <a:srgbClr val="FF904D"/>
                </a:solidFill>
              </a:rPr>
              <a:t>Dados</a:t>
            </a:r>
            <a:r>
              <a:rPr sz="6000" spc="-335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NoSQL</a:t>
            </a:r>
            <a:endParaRPr sz="6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244" y="6894424"/>
            <a:ext cx="4495799" cy="30098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6497" y="3557784"/>
            <a:ext cx="9443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50" dirty="0">
                <a:latin typeface="Arial"/>
                <a:cs typeface="Arial"/>
              </a:rPr>
              <a:t>2.</a:t>
            </a:r>
            <a:r>
              <a:rPr sz="4800" b="1" spc="-245" dirty="0">
                <a:latin typeface="Arial"/>
                <a:cs typeface="Arial"/>
              </a:rPr>
              <a:t> </a:t>
            </a:r>
            <a:r>
              <a:rPr sz="4800" b="1" dirty="0">
                <a:latin typeface="Arial"/>
                <a:cs typeface="Arial"/>
              </a:rPr>
              <a:t>Bancos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85" dirty="0">
                <a:latin typeface="Arial"/>
                <a:cs typeface="Arial"/>
              </a:rPr>
              <a:t>Dados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-10" dirty="0">
                <a:latin typeface="Arial"/>
                <a:cs typeface="Arial"/>
              </a:rPr>
              <a:t>Colunas: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497" y="4905876"/>
            <a:ext cx="1515935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colunas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armazenam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colunas,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permitindo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um </a:t>
            </a:r>
            <a:r>
              <a:rPr sz="3200" spc="105" dirty="0">
                <a:latin typeface="Trebuchet MS"/>
                <a:cs typeface="Trebuchet MS"/>
              </a:rPr>
              <a:t>desempenho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eficiente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consultas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que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envolvem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grandes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volumes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spc="130" dirty="0">
                <a:latin typeface="Trebuchet MS"/>
                <a:cs typeface="Trebuchet MS"/>
              </a:rPr>
              <a:t>agregações.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spc="280" dirty="0">
                <a:latin typeface="Trebuchet MS"/>
                <a:cs typeface="Trebuchet MS"/>
              </a:rPr>
              <a:t>Cada</a:t>
            </a:r>
            <a:r>
              <a:rPr sz="3200" dirty="0">
                <a:latin typeface="Trebuchet MS"/>
                <a:cs typeface="Trebuchet MS"/>
              </a:rPr>
              <a:t> coluna </a:t>
            </a:r>
            <a:r>
              <a:rPr sz="3200" spc="140" dirty="0">
                <a:latin typeface="Trebuchet MS"/>
                <a:cs typeface="Trebuchet MS"/>
              </a:rPr>
              <a:t>pode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spc="165" dirty="0">
                <a:latin typeface="Trebuchet MS"/>
                <a:cs typeface="Trebuchet MS"/>
              </a:rPr>
              <a:t>ser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indexada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separadamente,</a:t>
            </a:r>
            <a:r>
              <a:rPr sz="3200" dirty="0">
                <a:latin typeface="Trebuchet MS"/>
                <a:cs typeface="Trebuchet MS"/>
              </a:rPr>
              <a:t> facilitando </a:t>
            </a:r>
            <a:r>
              <a:rPr sz="3200" spc="165" dirty="0">
                <a:latin typeface="Trebuchet MS"/>
                <a:cs typeface="Trebuchet MS"/>
              </a:rPr>
              <a:t>a </a:t>
            </a:r>
            <a:r>
              <a:rPr sz="3200" spc="150" dirty="0">
                <a:latin typeface="Trebuchet MS"/>
                <a:cs typeface="Trebuchet MS"/>
              </a:rPr>
              <a:t>recuperação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seletiva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informações.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4679" y="430283"/>
            <a:ext cx="1742440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11240" marR="5080" indent="-6099175">
              <a:lnSpc>
                <a:spcPct val="116700"/>
              </a:lnSpc>
              <a:spcBef>
                <a:spcPts val="95"/>
              </a:spcBef>
            </a:pPr>
            <a:r>
              <a:rPr sz="6000" spc="125" dirty="0">
                <a:solidFill>
                  <a:srgbClr val="FF904D"/>
                </a:solidFill>
              </a:rPr>
              <a:t>Exploração</a:t>
            </a:r>
            <a:r>
              <a:rPr sz="6000" spc="-315" dirty="0">
                <a:solidFill>
                  <a:srgbClr val="FF904D"/>
                </a:solidFill>
              </a:rPr>
              <a:t> </a:t>
            </a:r>
            <a:r>
              <a:rPr sz="6000" spc="-20" dirty="0">
                <a:solidFill>
                  <a:srgbClr val="FF904D"/>
                </a:solidFill>
              </a:rPr>
              <a:t>dos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275" dirty="0">
                <a:solidFill>
                  <a:srgbClr val="FF904D"/>
                </a:solidFill>
              </a:rPr>
              <a:t>Diferentes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-55" dirty="0">
                <a:solidFill>
                  <a:srgbClr val="FF904D"/>
                </a:solidFill>
              </a:rPr>
              <a:t>Tipos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dirty="0">
                <a:solidFill>
                  <a:srgbClr val="FF904D"/>
                </a:solidFill>
              </a:rPr>
              <a:t>Bancos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90" dirty="0">
                <a:solidFill>
                  <a:srgbClr val="FF904D"/>
                </a:solidFill>
              </a:rPr>
              <a:t>de </a:t>
            </a:r>
            <a:r>
              <a:rPr sz="6000" spc="114" dirty="0">
                <a:solidFill>
                  <a:srgbClr val="FF904D"/>
                </a:solidFill>
              </a:rPr>
              <a:t>Dados</a:t>
            </a:r>
            <a:r>
              <a:rPr sz="6000" spc="-335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NoSQL</a:t>
            </a:r>
            <a:endParaRPr sz="6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0690" y="6951374"/>
            <a:ext cx="8991599" cy="30098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6497" y="3557786"/>
            <a:ext cx="100095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80" dirty="0">
                <a:latin typeface="Arial"/>
                <a:cs typeface="Arial"/>
              </a:rPr>
              <a:t>3.</a:t>
            </a:r>
            <a:r>
              <a:rPr sz="4800" b="1" spc="-235" dirty="0">
                <a:latin typeface="Arial"/>
                <a:cs typeface="Arial"/>
              </a:rPr>
              <a:t> </a:t>
            </a:r>
            <a:r>
              <a:rPr sz="4800" b="1" dirty="0">
                <a:latin typeface="Arial"/>
                <a:cs typeface="Arial"/>
              </a:rPr>
              <a:t>Bancos</a:t>
            </a:r>
            <a:r>
              <a:rPr sz="4800" b="1" spc="-235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35" dirty="0">
                <a:latin typeface="Arial"/>
                <a:cs typeface="Arial"/>
              </a:rPr>
              <a:t> </a:t>
            </a:r>
            <a:r>
              <a:rPr sz="4800" b="1" spc="85" dirty="0">
                <a:latin typeface="Arial"/>
                <a:cs typeface="Arial"/>
              </a:rPr>
              <a:t>Dados</a:t>
            </a:r>
            <a:r>
              <a:rPr sz="4800" b="1" spc="-235" dirty="0">
                <a:latin typeface="Arial"/>
                <a:cs typeface="Arial"/>
              </a:rPr>
              <a:t> </a:t>
            </a:r>
            <a:r>
              <a:rPr sz="4800" b="1" spc="210" dirty="0">
                <a:latin typeface="Arial"/>
                <a:cs typeface="Arial"/>
              </a:rPr>
              <a:t>Chave-</a:t>
            </a:r>
            <a:r>
              <a:rPr sz="4800" b="1" spc="75" dirty="0">
                <a:latin typeface="Arial"/>
                <a:cs typeface="Arial"/>
              </a:rPr>
              <a:t>Valor: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497" y="4905878"/>
            <a:ext cx="1637093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chave-</a:t>
            </a:r>
            <a:r>
              <a:rPr sz="3200" spc="50" dirty="0">
                <a:latin typeface="Trebuchet MS"/>
                <a:cs typeface="Trebuchet MS"/>
              </a:rPr>
              <a:t>valor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armazenam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pares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chave-</a:t>
            </a:r>
            <a:r>
              <a:rPr sz="3200" spc="50" dirty="0">
                <a:latin typeface="Trebuchet MS"/>
                <a:cs typeface="Trebuchet MS"/>
              </a:rPr>
              <a:t>valor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simples. </a:t>
            </a:r>
            <a:r>
              <a:rPr sz="3200" spc="265" dirty="0">
                <a:latin typeface="Trebuchet MS"/>
                <a:cs typeface="Trebuchet MS"/>
              </a:rPr>
              <a:t>São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eficientes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armazenar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simples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acesso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rápido,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35" dirty="0">
                <a:latin typeface="Trebuchet MS"/>
                <a:cs typeface="Trebuchet MS"/>
              </a:rPr>
              <a:t>sendo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amplamente </a:t>
            </a:r>
            <a:r>
              <a:rPr sz="3200" spc="180" dirty="0">
                <a:latin typeface="Trebuchet MS"/>
                <a:cs typeface="Trebuchet MS"/>
              </a:rPr>
              <a:t>usados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0" dirty="0">
                <a:latin typeface="Trebuchet MS"/>
                <a:cs typeface="Trebuchet MS"/>
              </a:rPr>
              <a:t>caches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sessões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usuários.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4679" y="430283"/>
            <a:ext cx="1742440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11240" marR="5080" indent="-6099175">
              <a:lnSpc>
                <a:spcPct val="116700"/>
              </a:lnSpc>
              <a:spcBef>
                <a:spcPts val="95"/>
              </a:spcBef>
            </a:pPr>
            <a:r>
              <a:rPr sz="6000" spc="125" dirty="0">
                <a:solidFill>
                  <a:srgbClr val="FF904D"/>
                </a:solidFill>
              </a:rPr>
              <a:t>Exploração</a:t>
            </a:r>
            <a:r>
              <a:rPr sz="6000" spc="-315" dirty="0">
                <a:solidFill>
                  <a:srgbClr val="FF904D"/>
                </a:solidFill>
              </a:rPr>
              <a:t> </a:t>
            </a:r>
            <a:r>
              <a:rPr sz="6000" spc="-20" dirty="0">
                <a:solidFill>
                  <a:srgbClr val="FF904D"/>
                </a:solidFill>
              </a:rPr>
              <a:t>dos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275" dirty="0">
                <a:solidFill>
                  <a:srgbClr val="FF904D"/>
                </a:solidFill>
              </a:rPr>
              <a:t>Diferentes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-55" dirty="0">
                <a:solidFill>
                  <a:srgbClr val="FF904D"/>
                </a:solidFill>
              </a:rPr>
              <a:t>Tipos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dirty="0">
                <a:solidFill>
                  <a:srgbClr val="FF904D"/>
                </a:solidFill>
              </a:rPr>
              <a:t>Bancos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90" dirty="0">
                <a:solidFill>
                  <a:srgbClr val="FF904D"/>
                </a:solidFill>
              </a:rPr>
              <a:t>de </a:t>
            </a:r>
            <a:r>
              <a:rPr sz="6000" spc="114" dirty="0">
                <a:solidFill>
                  <a:srgbClr val="FF904D"/>
                </a:solidFill>
              </a:rPr>
              <a:t>Dados</a:t>
            </a:r>
            <a:r>
              <a:rPr sz="6000" spc="-335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NoSQL</a:t>
            </a:r>
            <a:endParaRPr sz="6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612" y="6898225"/>
            <a:ext cx="8391524" cy="31527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6497" y="3557787"/>
            <a:ext cx="9224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90" dirty="0">
                <a:latin typeface="Arial"/>
                <a:cs typeface="Arial"/>
              </a:rPr>
              <a:t>4.</a:t>
            </a:r>
            <a:r>
              <a:rPr sz="4800" b="1" spc="-245" dirty="0">
                <a:latin typeface="Arial"/>
                <a:cs typeface="Arial"/>
              </a:rPr>
              <a:t> </a:t>
            </a:r>
            <a:r>
              <a:rPr sz="4800" b="1" dirty="0">
                <a:latin typeface="Arial"/>
                <a:cs typeface="Arial"/>
              </a:rPr>
              <a:t>Bancos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85" dirty="0">
                <a:latin typeface="Arial"/>
                <a:cs typeface="Arial"/>
              </a:rPr>
              <a:t>Dados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90" dirty="0">
                <a:latin typeface="Arial"/>
                <a:cs typeface="Arial"/>
              </a:rPr>
              <a:t>de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170" dirty="0">
                <a:latin typeface="Arial"/>
                <a:cs typeface="Arial"/>
              </a:rPr>
              <a:t>Grafos: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497" y="4905880"/>
            <a:ext cx="1553146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370" dirty="0">
                <a:latin typeface="Trebuchet MS"/>
                <a:cs typeface="Trebuchet MS"/>
              </a:rPr>
              <a:t>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bancos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grafos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25" dirty="0">
                <a:latin typeface="Trebuchet MS"/>
                <a:cs typeface="Trebuchet MS"/>
              </a:rPr>
              <a:t>armazenam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forma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55" dirty="0">
                <a:latin typeface="Trebuchet MS"/>
                <a:cs typeface="Trebuchet MS"/>
              </a:rPr>
              <a:t>nós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(entidades)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spc="190" dirty="0">
                <a:latin typeface="Trebuchet MS"/>
                <a:cs typeface="Trebuchet MS"/>
              </a:rPr>
              <a:t>arestas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(relacionamentos).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80" dirty="0">
                <a:latin typeface="Trebuchet MS"/>
                <a:cs typeface="Trebuchet MS"/>
              </a:rPr>
              <a:t>usados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modelar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90" dirty="0">
                <a:latin typeface="Trebuchet MS"/>
                <a:cs typeface="Trebuchet MS"/>
              </a:rPr>
              <a:t>consultar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85" dirty="0">
                <a:latin typeface="Trebuchet MS"/>
                <a:cs typeface="Trebuchet MS"/>
              </a:rPr>
              <a:t>dados </a:t>
            </a:r>
            <a:r>
              <a:rPr sz="3200" spc="65" dirty="0">
                <a:latin typeface="Trebuchet MS"/>
                <a:cs typeface="Trebuchet MS"/>
              </a:rPr>
              <a:t>altamente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interconectados,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como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0" dirty="0">
                <a:latin typeface="Trebuchet MS"/>
                <a:cs typeface="Trebuchet MS"/>
              </a:rPr>
              <a:t>redes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sociais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sistemas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recomendação.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4679" y="430283"/>
            <a:ext cx="1742440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11240" marR="5080" indent="-6099175">
              <a:lnSpc>
                <a:spcPct val="116700"/>
              </a:lnSpc>
              <a:spcBef>
                <a:spcPts val="95"/>
              </a:spcBef>
            </a:pPr>
            <a:r>
              <a:rPr sz="6000" spc="125" dirty="0">
                <a:solidFill>
                  <a:srgbClr val="FF904D"/>
                </a:solidFill>
              </a:rPr>
              <a:t>Exploração</a:t>
            </a:r>
            <a:r>
              <a:rPr sz="6000" spc="-315" dirty="0">
                <a:solidFill>
                  <a:srgbClr val="FF904D"/>
                </a:solidFill>
              </a:rPr>
              <a:t> </a:t>
            </a:r>
            <a:r>
              <a:rPr sz="6000" spc="-20" dirty="0">
                <a:solidFill>
                  <a:srgbClr val="FF904D"/>
                </a:solidFill>
              </a:rPr>
              <a:t>dos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275" dirty="0">
                <a:solidFill>
                  <a:srgbClr val="FF904D"/>
                </a:solidFill>
              </a:rPr>
              <a:t>Diferentes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-55" dirty="0">
                <a:solidFill>
                  <a:srgbClr val="FF904D"/>
                </a:solidFill>
              </a:rPr>
              <a:t>Tipos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114" dirty="0">
                <a:solidFill>
                  <a:srgbClr val="FF904D"/>
                </a:solidFill>
              </a:rPr>
              <a:t>de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dirty="0">
                <a:solidFill>
                  <a:srgbClr val="FF904D"/>
                </a:solidFill>
              </a:rPr>
              <a:t>Bancos</a:t>
            </a:r>
            <a:r>
              <a:rPr sz="6000" spc="-310" dirty="0">
                <a:solidFill>
                  <a:srgbClr val="FF904D"/>
                </a:solidFill>
              </a:rPr>
              <a:t> </a:t>
            </a:r>
            <a:r>
              <a:rPr sz="6000" spc="90" dirty="0">
                <a:solidFill>
                  <a:srgbClr val="FF904D"/>
                </a:solidFill>
              </a:rPr>
              <a:t>de </a:t>
            </a:r>
            <a:r>
              <a:rPr sz="6000" spc="114" dirty="0">
                <a:solidFill>
                  <a:srgbClr val="FF904D"/>
                </a:solidFill>
              </a:rPr>
              <a:t>Dados</a:t>
            </a:r>
            <a:r>
              <a:rPr sz="6000" spc="-335" dirty="0">
                <a:solidFill>
                  <a:srgbClr val="FF904D"/>
                </a:solidFill>
              </a:rPr>
              <a:t> </a:t>
            </a:r>
            <a:r>
              <a:rPr sz="6000" spc="-10" dirty="0">
                <a:solidFill>
                  <a:srgbClr val="FF904D"/>
                </a:solidFill>
              </a:rPr>
              <a:t>NoSQL</a:t>
            </a:r>
            <a:endParaRPr sz="6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964" y="2533167"/>
            <a:ext cx="10515598" cy="7353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53662" y="3601225"/>
            <a:ext cx="6223635" cy="452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199"/>
              </a:lnSpc>
              <a:spcBef>
                <a:spcPts val="100"/>
              </a:spcBef>
            </a:pPr>
            <a:r>
              <a:rPr sz="3200" spc="120" dirty="0">
                <a:latin typeface="Trebuchet MS"/>
                <a:cs typeface="Trebuchet MS"/>
              </a:rPr>
              <a:t>Pense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uma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rede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40" dirty="0">
                <a:latin typeface="Trebuchet MS"/>
                <a:cs typeface="Trebuchet MS"/>
              </a:rPr>
              <a:t>social.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260" dirty="0">
                <a:latin typeface="Trebuchet MS"/>
                <a:cs typeface="Trebuchet MS"/>
              </a:rPr>
              <a:t>Cada </a:t>
            </a:r>
            <a:r>
              <a:rPr sz="3200" spc="75" dirty="0">
                <a:latin typeface="Trebuchet MS"/>
                <a:cs typeface="Trebuchet MS"/>
              </a:rPr>
              <a:t>usuário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é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nó,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conexões </a:t>
            </a:r>
            <a:r>
              <a:rPr sz="3200" spc="90" dirty="0">
                <a:latin typeface="Trebuchet MS"/>
                <a:cs typeface="Trebuchet MS"/>
              </a:rPr>
              <a:t>entre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25" dirty="0">
                <a:latin typeface="Trebuchet MS"/>
                <a:cs typeface="Trebuchet MS"/>
              </a:rPr>
              <a:t>os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usuários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(amigos, </a:t>
            </a:r>
            <a:r>
              <a:rPr sz="3200" spc="60" dirty="0">
                <a:latin typeface="Trebuchet MS"/>
                <a:cs typeface="Trebuchet MS"/>
              </a:rPr>
              <a:t>seguidores)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20" dirty="0">
                <a:latin typeface="Trebuchet MS"/>
                <a:cs typeface="Trebuchet MS"/>
              </a:rPr>
              <a:t>são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arestas.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Um </a:t>
            </a:r>
            <a:r>
              <a:rPr sz="3200" spc="160" dirty="0">
                <a:latin typeface="Trebuchet MS"/>
                <a:cs typeface="Trebuchet MS"/>
              </a:rPr>
              <a:t>banco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dados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de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215" dirty="0">
                <a:latin typeface="Trebuchet MS"/>
                <a:cs typeface="Trebuchet MS"/>
              </a:rPr>
              <a:t>grafos </a:t>
            </a:r>
            <a:r>
              <a:rPr sz="3200" spc="55" dirty="0">
                <a:latin typeface="Trebuchet MS"/>
                <a:cs typeface="Trebuchet MS"/>
              </a:rPr>
              <a:t>permite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consultas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complexas </a:t>
            </a:r>
            <a:r>
              <a:rPr sz="3200" spc="185" dirty="0">
                <a:latin typeface="Trebuchet MS"/>
                <a:cs typeface="Trebuchet MS"/>
              </a:rPr>
              <a:t>para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30" dirty="0">
                <a:latin typeface="Trebuchet MS"/>
                <a:cs typeface="Trebuchet MS"/>
              </a:rPr>
              <a:t>encontrar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conexões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e </a:t>
            </a:r>
            <a:r>
              <a:rPr sz="3200" spc="145" dirty="0">
                <a:latin typeface="Trebuchet MS"/>
                <a:cs typeface="Trebuchet MS"/>
              </a:rPr>
              <a:t>recomendações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precisas.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24706" y="613387"/>
            <a:ext cx="106851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Bancos</a:t>
            </a:r>
            <a:r>
              <a:rPr sz="6000" spc="-295" dirty="0"/>
              <a:t> </a:t>
            </a:r>
            <a:r>
              <a:rPr sz="6000" spc="114" dirty="0"/>
              <a:t>de</a:t>
            </a:r>
            <a:r>
              <a:rPr sz="6000" spc="-290" dirty="0"/>
              <a:t> </a:t>
            </a:r>
            <a:r>
              <a:rPr sz="6000" spc="114" dirty="0"/>
              <a:t>Dados</a:t>
            </a:r>
            <a:r>
              <a:rPr sz="6000" spc="-290" dirty="0"/>
              <a:t> </a:t>
            </a:r>
            <a:r>
              <a:rPr sz="6000" spc="114" dirty="0"/>
              <a:t>de</a:t>
            </a:r>
            <a:r>
              <a:rPr sz="6000" spc="-295" dirty="0"/>
              <a:t> </a:t>
            </a:r>
            <a:r>
              <a:rPr sz="6000" spc="215" dirty="0"/>
              <a:t>Grafos:</a:t>
            </a:r>
            <a:endParaRPr sz="6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A0A9-4B86-351A-7A60-9BA1F43E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28AEFF6-B4D7-61A5-AE55-8D653DBC1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60353" y="800100"/>
            <a:ext cx="836729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6000" dirty="0"/>
              <a:t>Conexão com SQLITE</a:t>
            </a:r>
            <a:endParaRPr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BBDEC0-01B1-8F80-4E71-C82CBED2EA1F}"/>
              </a:ext>
            </a:extLst>
          </p:cNvPr>
          <p:cNvSpPr txBox="1"/>
          <p:nvPr/>
        </p:nvSpPr>
        <p:spPr>
          <a:xfrm>
            <a:off x="1257300" y="2557631"/>
            <a:ext cx="15773400" cy="5171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um sistema de gerenciamento de banco de dados relacional (RDBMS).</a:t>
            </a:r>
          </a:p>
          <a:p>
            <a:pPr>
              <a:lnSpc>
                <a:spcPct val="150000"/>
              </a:lnSpc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É leve e embutido (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embedded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): o banco de dados é armazenado em um único arquivo .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ou .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Não precisa de um servidor: diferente de MySQL ou PostgreSQL.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Muito usado em aplicações pequenas, apps mobile (como Android), protótipos e sistemas embarcados.</a:t>
            </a:r>
          </a:p>
        </p:txBody>
      </p:sp>
    </p:spTree>
    <p:extLst>
      <p:ext uri="{BB962C8B-B14F-4D97-AF65-F5344CB8AC3E}">
        <p14:creationId xmlns:p14="http://schemas.microsoft.com/office/powerpoint/2010/main" val="151140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B5F0-15BB-BF70-CCE5-424C7D94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CC24132-F133-5D2C-C598-9DD1D17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508" y="723900"/>
            <a:ext cx="17066492" cy="738664"/>
          </a:xfrm>
        </p:spPr>
        <p:txBody>
          <a:bodyPr/>
          <a:lstStyle/>
          <a:p>
            <a:r>
              <a:rPr lang="pt-BR" sz="4800" b="1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endParaRPr lang="pt-BR" dirty="0"/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C798A761-9363-BF66-4B73-BF6FC9527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476500"/>
            <a:ext cx="16459200" cy="4973349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pt-BR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pt-BR" sz="4400" b="1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r>
              <a:rPr lang="pt-BR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um </a:t>
            </a:r>
            <a:r>
              <a:rPr lang="pt-BR" sz="4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</a:t>
            </a:r>
            <a:r>
              <a:rPr lang="pt-BR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completo, criado com Python para desenvolvedore</a:t>
            </a:r>
            <a:r>
              <a:rPr lang="pt-BR" sz="4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pt-BR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que fornece flexibilidade total do SQL, obtendo um conjunto completo de padrões de persistência de nível </a:t>
            </a:r>
            <a:r>
              <a:rPr lang="pt-BR" sz="4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corporativo</a:t>
            </a:r>
            <a:r>
              <a:rPr lang="pt-BR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bem conhecidos, que são projetados para acesso a banco de dados eficientes e de alto desempenho.</a:t>
            </a:r>
            <a:endParaRPr lang="pt-BR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40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47E9-B208-6FB1-D9E0-11E3CA50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8DC828-BCBE-6F2B-FEEE-2194D423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ORM</a:t>
            </a:r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37B6CB0F-93A8-64B3-85F8-5F630A810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06735"/>
            <a:ext cx="17066492" cy="7273530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pt-BR" sz="4000" dirty="0" err="1"/>
              <a:t>Object-Relational</a:t>
            </a:r>
            <a:r>
              <a:rPr lang="pt-BR" sz="4000" dirty="0"/>
              <a:t> Mapping (ORM), em português, mapeamento objeto-relacional, é uma técnica para aproximar o </a:t>
            </a:r>
            <a:r>
              <a:rPr lang="pt-BR" sz="4000" b="1" dirty="0"/>
              <a:t>paradigma de desenvolvimento de aplicações orientadas a objetos</a:t>
            </a:r>
            <a:r>
              <a:rPr lang="pt-BR" sz="4000" dirty="0"/>
              <a:t> ao </a:t>
            </a:r>
            <a:r>
              <a:rPr lang="pt-BR" sz="4000" b="1" dirty="0">
                <a:solidFill>
                  <a:srgbClr val="FF0000"/>
                </a:solidFill>
              </a:rPr>
              <a:t>paradigma do banco de dados relacional. 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pt-BR" sz="4000" dirty="0"/>
          </a:p>
          <a:p>
            <a:pPr marL="114300" indent="0" algn="just">
              <a:lnSpc>
                <a:spcPct val="150000"/>
              </a:lnSpc>
              <a:buNone/>
            </a:pPr>
            <a:r>
              <a:rPr lang="pt-BR" sz="4000" dirty="0"/>
              <a:t>O uso da técnica de mapeamento objeto-relacional é realizado através de um </a:t>
            </a:r>
            <a:r>
              <a:rPr lang="pt-BR" sz="4000" dirty="0" err="1"/>
              <a:t>mapeador</a:t>
            </a:r>
            <a:r>
              <a:rPr lang="pt-BR" sz="4000" dirty="0"/>
              <a:t> objeto-relacional que geralmente é a biblioteca ou framework que ajuda no mapeamento e uso do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1515542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90AF-341D-B4B2-1F01-42B601E1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58A3D24-7538-5A73-D305-EB345714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ORM</a:t>
            </a:r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86809D05-6353-48EE-BB10-8F2BCF57B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2400" y="2552699"/>
            <a:ext cx="10176279" cy="959941"/>
          </a:xfr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114300" indent="0" algn="ctr">
              <a:buNone/>
            </a:pPr>
            <a:r>
              <a:rPr lang="pt-BR" sz="44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 da impedância de dados</a:t>
            </a: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A40210ED-BE12-E711-2560-879279D0CA54}"/>
              </a:ext>
            </a:extLst>
          </p:cNvPr>
          <p:cNvSpPr/>
          <p:nvPr/>
        </p:nvSpPr>
        <p:spPr>
          <a:xfrm>
            <a:off x="8573122" y="4000500"/>
            <a:ext cx="834648" cy="17526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DB570C-CDFB-6D11-72D3-CFE7846615CD}"/>
              </a:ext>
            </a:extLst>
          </p:cNvPr>
          <p:cNvSpPr txBox="1"/>
          <p:nvPr/>
        </p:nvSpPr>
        <p:spPr>
          <a:xfrm>
            <a:off x="3728823" y="6389640"/>
            <a:ext cx="10830354" cy="76944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pt-BR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evido às diferenças entre os 2 paradigmas.</a:t>
            </a:r>
            <a:endParaRPr lang="pt-BR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57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D193-E583-4BEF-F68C-371AE4C5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CF8B68-85BC-387C-2411-443CBC3E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BD</a:t>
            </a:r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18944362-5025-B3AF-57E4-7FA80DB7D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638300"/>
            <a:ext cx="16002000" cy="2674578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pt-BR" sz="4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banco de dados relacional trabalha com </a:t>
            </a:r>
            <a:r>
              <a:rPr lang="pt-BR" sz="40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tabelas</a:t>
            </a:r>
            <a:r>
              <a:rPr lang="pt-BR" sz="4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relações entre elas para representar modelos da vida real. Dentro das tabelas temos várias colunas e a unidade que temos para representação no modelo relacional é uma linha:</a:t>
            </a:r>
            <a:endParaRPr lang="pt-B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2" descr="Tabela ORM">
            <a:extLst>
              <a:ext uri="{FF2B5EF4-FFF2-40B4-BE49-F238E27FC236}">
                <a16:creationId xmlns:a16="http://schemas.microsoft.com/office/drawing/2014/main" id="{22A3032B-FF1E-DD37-C248-972F2E9B1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451" y="5516923"/>
            <a:ext cx="10009989" cy="412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516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2373-DCDC-EA51-D7EE-730188BB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2EB5A0-AE25-1392-7A5E-4FC3F299B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POO</a:t>
            </a:r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48DAC9BF-B4F0-5BB9-5FDB-E4C9B971B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5722" y="1722209"/>
            <a:ext cx="16536554" cy="3238131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pt-BR" sz="3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paradigma orientado a objetos possui um modo um pouco diferente de trabalhar. Nele nós temos diversos elementos como classes, propriedades, visibilidade, herança e interfaces. A unidade quando falamos de orientação a objetos é o objeto que representa algo do mundo real, seja abstrato ou concreto:</a:t>
            </a:r>
            <a:endParaRPr lang="pt-B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Imagem Objeto">
            <a:extLst>
              <a:ext uri="{FF2B5EF4-FFF2-40B4-BE49-F238E27FC236}">
                <a16:creationId xmlns:a16="http://schemas.microsoft.com/office/drawing/2014/main" id="{9BB23F69-42FD-6943-26E4-0D9A07EEE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8" b="9311"/>
          <a:stretch/>
        </p:blipFill>
        <p:spPr bwMode="auto">
          <a:xfrm>
            <a:off x="5752442" y="5507871"/>
            <a:ext cx="6783113" cy="442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717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5B1D-52D9-4D70-6D5B-28567564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m Mapeamento ORM">
            <a:extLst>
              <a:ext uri="{FF2B5EF4-FFF2-40B4-BE49-F238E27FC236}">
                <a16:creationId xmlns:a16="http://schemas.microsoft.com/office/drawing/2014/main" id="{9BB90D4E-1637-8ED0-3B88-C4ADCA6AD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74" y="4587774"/>
            <a:ext cx="16849618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C62ABE8-7B40-E918-D457-BCD9C4DDED5F}"/>
              </a:ext>
            </a:extLst>
          </p:cNvPr>
          <p:cNvSpPr txBox="1"/>
          <p:nvPr/>
        </p:nvSpPr>
        <p:spPr>
          <a:xfrm>
            <a:off x="762000" y="1181100"/>
            <a:ext cx="17066492" cy="2499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Pensando nos problemas descritos acima, o ORM define uma técnica para realizar a conciliação entre os 2 modelos. Uma das partes centrais é através do mapeamento de linhas para objetos:</a:t>
            </a:r>
            <a:endParaRPr lang="pt-B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1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D93E-14A0-0E6D-EB04-16F34B08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79B83C5-DE48-4207-FABE-1AE7B4185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95300"/>
            <a:ext cx="17066492" cy="738664"/>
          </a:xfrm>
        </p:spPr>
        <p:txBody>
          <a:bodyPr/>
          <a:lstStyle/>
          <a:p>
            <a:r>
              <a:rPr lang="pt-BR" dirty="0"/>
              <a:t>Problema real: dois mundos diferentes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7794C2-930B-7F76-DB2A-A1C0DCF7F2CE}"/>
              </a:ext>
            </a:extLst>
          </p:cNvPr>
          <p:cNvSpPr txBox="1"/>
          <p:nvPr/>
        </p:nvSpPr>
        <p:spPr>
          <a:xfrm>
            <a:off x="545690" y="1672875"/>
            <a:ext cx="16535400" cy="221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/>
              <a:t>Você está programando em Python, mas o banco de dados (como o </a:t>
            </a:r>
            <a:r>
              <a:rPr lang="pt-BR" sz="3200" dirty="0" err="1"/>
              <a:t>SQLite</a:t>
            </a:r>
            <a:r>
              <a:rPr lang="pt-BR" sz="3200" dirty="0"/>
              <a:t>) entende SQL.</a:t>
            </a:r>
          </a:p>
          <a:p>
            <a:pPr>
              <a:lnSpc>
                <a:spcPct val="150000"/>
              </a:lnSpc>
            </a:pPr>
            <a:r>
              <a:rPr lang="pt-BR" sz="3200" dirty="0"/>
              <a:t>É como se você falasse </a:t>
            </a:r>
            <a:r>
              <a:rPr lang="pt-BR" sz="3200" dirty="0">
                <a:solidFill>
                  <a:srgbClr val="FF0000"/>
                </a:solidFill>
              </a:rPr>
              <a:t>português</a:t>
            </a:r>
            <a:r>
              <a:rPr lang="pt-BR" sz="3200" dirty="0"/>
              <a:t> e o banco de dados só falasse </a:t>
            </a:r>
            <a:r>
              <a:rPr lang="pt-BR" sz="3200" dirty="0">
                <a:solidFill>
                  <a:srgbClr val="FF0000"/>
                </a:solidFill>
              </a:rPr>
              <a:t>inglês</a:t>
            </a:r>
            <a:r>
              <a:rPr lang="pt-BR" sz="32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769DA6-432D-7CE5-2F9C-B61207A56606}"/>
              </a:ext>
            </a:extLst>
          </p:cNvPr>
          <p:cNvSpPr txBox="1"/>
          <p:nvPr/>
        </p:nvSpPr>
        <p:spPr>
          <a:xfrm>
            <a:off x="533400" y="4272130"/>
            <a:ext cx="16535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Se você quiser salvar um aluno no banco </a:t>
            </a:r>
            <a:r>
              <a:rPr lang="pt-BR" sz="3200" b="1" dirty="0"/>
              <a:t>sem ORM</a:t>
            </a:r>
            <a:r>
              <a:rPr lang="pt-BR" sz="3200" dirty="0"/>
              <a:t>, teria que escrever assim: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663226-6CB8-8DF9-C986-CE409EAF3CCB}"/>
              </a:ext>
            </a:extLst>
          </p:cNvPr>
          <p:cNvSpPr txBox="1"/>
          <p:nvPr/>
        </p:nvSpPr>
        <p:spPr>
          <a:xfrm>
            <a:off x="683342" y="5458364"/>
            <a:ext cx="15166258" cy="32669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 err="1">
                <a:solidFill>
                  <a:schemeClr val="bg1"/>
                </a:solidFill>
              </a:rPr>
              <a:t>import</a:t>
            </a:r>
            <a:r>
              <a:rPr lang="pt-BR" sz="2000" dirty="0">
                <a:solidFill>
                  <a:schemeClr val="bg1"/>
                </a:solidFill>
              </a:rPr>
              <a:t> sqlite3</a:t>
            </a:r>
          </a:p>
          <a:p>
            <a:pPr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000" dirty="0" err="1">
                <a:solidFill>
                  <a:schemeClr val="bg1"/>
                </a:solidFill>
              </a:rPr>
              <a:t>con</a:t>
            </a:r>
            <a:r>
              <a:rPr lang="pt-BR" sz="2000" dirty="0">
                <a:solidFill>
                  <a:schemeClr val="bg1"/>
                </a:solidFill>
              </a:rPr>
              <a:t> = sqlite3.connect('</a:t>
            </a:r>
            <a:r>
              <a:rPr lang="pt-BR" sz="2000" dirty="0" err="1">
                <a:solidFill>
                  <a:schemeClr val="bg1"/>
                </a:solidFill>
              </a:rPr>
              <a:t>database.db</a:t>
            </a:r>
            <a:r>
              <a:rPr lang="pt-BR" sz="2000" dirty="0">
                <a:solidFill>
                  <a:schemeClr val="bg1"/>
                </a:solidFill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</a:rPr>
              <a:t>cursor = </a:t>
            </a:r>
            <a:r>
              <a:rPr lang="pt-BR" sz="2000" dirty="0" err="1">
                <a:solidFill>
                  <a:schemeClr val="bg1"/>
                </a:solidFill>
              </a:rPr>
              <a:t>con.cursor</a:t>
            </a:r>
            <a:r>
              <a:rPr lang="pt-BR" sz="2000" dirty="0">
                <a:solidFill>
                  <a:schemeClr val="bg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pt-BR" sz="2000" dirty="0" err="1">
                <a:solidFill>
                  <a:schemeClr val="bg1"/>
                </a:solidFill>
              </a:rPr>
              <a:t>cursor.execute</a:t>
            </a:r>
            <a:r>
              <a:rPr lang="pt-BR" sz="2000" dirty="0">
                <a:solidFill>
                  <a:schemeClr val="bg1"/>
                </a:solidFill>
              </a:rPr>
              <a:t>("INSERT INTO aluno (nome, idade, curso) VALUES (?, ?, ?)", ('João', 20, 'Engenharia'))</a:t>
            </a:r>
          </a:p>
          <a:p>
            <a:pPr>
              <a:lnSpc>
                <a:spcPct val="150000"/>
              </a:lnSpc>
            </a:pPr>
            <a:r>
              <a:rPr lang="pt-BR" sz="2000" dirty="0" err="1">
                <a:solidFill>
                  <a:schemeClr val="bg1"/>
                </a:solidFill>
              </a:rPr>
              <a:t>con.commit</a:t>
            </a:r>
            <a:r>
              <a:rPr lang="pt-BR" sz="2000" dirty="0">
                <a:solidFill>
                  <a:schemeClr val="bg1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pt-BR" sz="2000" dirty="0" err="1">
                <a:solidFill>
                  <a:schemeClr val="bg1"/>
                </a:solidFill>
              </a:rPr>
              <a:t>con.close</a:t>
            </a:r>
            <a:r>
              <a:rPr lang="pt-BR" sz="20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5E8F8B9-02FB-F879-615C-4052648AA147}"/>
              </a:ext>
            </a:extLst>
          </p:cNvPr>
          <p:cNvSpPr txBox="1"/>
          <p:nvPr/>
        </p:nvSpPr>
        <p:spPr>
          <a:xfrm>
            <a:off x="3810000" y="8877300"/>
            <a:ext cx="1470660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Não parece Python, né? Isso é </a:t>
            </a:r>
            <a:r>
              <a:rPr lang="pt-BR" sz="2400" b="1" dirty="0"/>
              <a:t>SQL</a:t>
            </a:r>
            <a:r>
              <a:rPr lang="pt-BR" sz="2400" dirty="0"/>
              <a:t> misturado com código Python. E se você errar uma vírgula ou esquecer aspas, quebra....</a:t>
            </a:r>
          </a:p>
        </p:txBody>
      </p:sp>
    </p:spTree>
    <p:extLst>
      <p:ext uri="{BB962C8B-B14F-4D97-AF65-F5344CB8AC3E}">
        <p14:creationId xmlns:p14="http://schemas.microsoft.com/office/powerpoint/2010/main" val="153461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0369-8F88-1801-A839-BB4DA02D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175A435-0958-2A3F-DC9D-A762CEDE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O que o ORM faz?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17509BF-7DBE-4AD4-6EA9-C3870C55CBFC}"/>
              </a:ext>
            </a:extLst>
          </p:cNvPr>
          <p:cNvSpPr txBox="1"/>
          <p:nvPr/>
        </p:nvSpPr>
        <p:spPr>
          <a:xfrm>
            <a:off x="457200" y="1562100"/>
            <a:ext cx="16154400" cy="147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/>
              <a:t>Ele traduza automaticamente o seu </a:t>
            </a:r>
            <a:r>
              <a:rPr lang="pt-BR" sz="3200" dirty="0">
                <a:solidFill>
                  <a:srgbClr val="FF0000"/>
                </a:solidFill>
              </a:rPr>
              <a:t>Python</a:t>
            </a:r>
            <a:r>
              <a:rPr lang="pt-BR" sz="3200" dirty="0"/>
              <a:t> para o </a:t>
            </a:r>
            <a:r>
              <a:rPr lang="pt-BR" sz="3200" dirty="0">
                <a:solidFill>
                  <a:srgbClr val="FF0000"/>
                </a:solidFill>
              </a:rPr>
              <a:t>SQL</a:t>
            </a:r>
            <a:r>
              <a:rPr lang="pt-BR" sz="3200" dirty="0"/>
              <a:t> que o banco entende.</a:t>
            </a:r>
          </a:p>
          <a:p>
            <a:pPr>
              <a:lnSpc>
                <a:spcPct val="150000"/>
              </a:lnSpc>
            </a:pPr>
            <a:r>
              <a:rPr lang="pt-BR" sz="3200" dirty="0"/>
              <a:t>Com um ORM, você escreve código 100% Python.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35188E-6190-F108-5BFE-F8079CB03B5D}"/>
              </a:ext>
            </a:extLst>
          </p:cNvPr>
          <p:cNvSpPr txBox="1"/>
          <p:nvPr/>
        </p:nvSpPr>
        <p:spPr>
          <a:xfrm>
            <a:off x="762000" y="3695700"/>
            <a:ext cx="9144000" cy="16858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</a:rPr>
              <a:t>aluno = Aluno(nome="João", idade=20, curso="Engenharia")</a:t>
            </a:r>
          </a:p>
          <a:p>
            <a:pPr>
              <a:lnSpc>
                <a:spcPct val="150000"/>
              </a:lnSpc>
            </a:pPr>
            <a:r>
              <a:rPr lang="pt-BR" sz="2400" dirty="0" err="1">
                <a:solidFill>
                  <a:schemeClr val="bg1"/>
                </a:solidFill>
              </a:rPr>
              <a:t>db.session.add</a:t>
            </a:r>
            <a:r>
              <a:rPr lang="pt-BR" sz="2400" dirty="0">
                <a:solidFill>
                  <a:schemeClr val="bg1"/>
                </a:solidFill>
              </a:rPr>
              <a:t>(aluno)</a:t>
            </a:r>
          </a:p>
          <a:p>
            <a:pPr>
              <a:lnSpc>
                <a:spcPct val="150000"/>
              </a:lnSpc>
            </a:pPr>
            <a:r>
              <a:rPr lang="pt-BR" sz="2400" dirty="0" err="1">
                <a:solidFill>
                  <a:schemeClr val="bg1"/>
                </a:solidFill>
              </a:rPr>
              <a:t>db.session.commit</a:t>
            </a:r>
            <a:r>
              <a:rPr lang="pt-BR" sz="2400" dirty="0">
                <a:solidFill>
                  <a:schemeClr val="bg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9084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99F7-90CF-4366-DBD4-744D6A9B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060D1AE-BA41-443D-57B8-935AECB05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526743"/>
              </p:ext>
            </p:extLst>
          </p:nvPr>
        </p:nvGraphicFramePr>
        <p:xfrm>
          <a:off x="2476500" y="2247900"/>
          <a:ext cx="13335000" cy="3200400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3310088306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802912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3600" dirty="0">
                          <a:solidFill>
                            <a:srgbClr val="FF0000"/>
                          </a:solidFill>
                        </a:rPr>
                        <a:t>Sem 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dirty="0">
                          <a:solidFill>
                            <a:srgbClr val="00B050"/>
                          </a:solidFill>
                        </a:rPr>
                        <a:t>Com ORM (</a:t>
                      </a:r>
                      <a:r>
                        <a:rPr lang="pt-BR" sz="3600" dirty="0" err="1">
                          <a:solidFill>
                            <a:srgbClr val="00B050"/>
                          </a:solidFill>
                        </a:rPr>
                        <a:t>SQLAlchemy</a:t>
                      </a:r>
                      <a:r>
                        <a:rPr lang="pt-BR" sz="3600" dirty="0">
                          <a:solidFill>
                            <a:srgbClr val="00B050"/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26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3600"/>
                        <a:t>Você escreve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/>
                        <a:t>Você escreve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35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3600"/>
                        <a:t>Alto risco de erros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Código mais seguro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42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3600"/>
                        <a:t>Mais difícil de ler e manter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/>
                        <a:t>Fácil de entender e modificar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75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3600"/>
                        <a:t>Tem que repetir muita coisa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3600" dirty="0"/>
                        <a:t>Reaproveita tudo com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80582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A43F308-524A-069E-33FE-ABC4BAFA0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208"/>
            <a:ext cx="683552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Benefícios reais do 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014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B2692-E92F-4539-F6C7-91C13E97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165CAD4-7C44-4596-DA64-3EA2D339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Nosso projeto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4E813E-4797-E785-B730-B8EA05EB9225}"/>
              </a:ext>
            </a:extLst>
          </p:cNvPr>
          <p:cNvSpPr txBox="1"/>
          <p:nvPr/>
        </p:nvSpPr>
        <p:spPr>
          <a:xfrm>
            <a:off x="990600" y="15621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pt-BR" sz="3600" dirty="0"/>
              <a:t>O que você tem hoje?</a:t>
            </a:r>
            <a:endParaRPr lang="pt-BR" sz="36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93E10F-CBA3-9CB3-1360-59FD6D4C6BD6}"/>
              </a:ext>
            </a:extLst>
          </p:cNvPr>
          <p:cNvSpPr txBox="1"/>
          <p:nvPr/>
        </p:nvSpPr>
        <p:spPr>
          <a:xfrm>
            <a:off x="3810000" y="2365801"/>
            <a:ext cx="1234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</a:rPr>
              <a:t>Um dicionário em Python pra simular um banco de dados: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D058A6-8360-7C33-7AAD-DCAC143FE219}"/>
              </a:ext>
            </a:extLst>
          </p:cNvPr>
          <p:cNvSpPr txBox="1"/>
          <p:nvPr/>
        </p:nvSpPr>
        <p:spPr>
          <a:xfrm>
            <a:off x="1219200" y="3492668"/>
            <a:ext cx="5943600" cy="59400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chemeClr val="bg1"/>
                </a:solidFill>
              </a:rPr>
              <a:t>from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flask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import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Flask</a:t>
            </a:r>
            <a:r>
              <a:rPr lang="pt-BR" sz="2000" dirty="0">
                <a:solidFill>
                  <a:schemeClr val="bg1"/>
                </a:solidFill>
              </a:rPr>
              <a:t>, </a:t>
            </a:r>
            <a:r>
              <a:rPr lang="pt-BR" sz="2000" dirty="0" err="1">
                <a:solidFill>
                  <a:schemeClr val="bg1"/>
                </a:solidFill>
              </a:rPr>
              <a:t>request</a:t>
            </a:r>
            <a:r>
              <a:rPr lang="pt-BR" sz="2000" dirty="0">
                <a:solidFill>
                  <a:schemeClr val="bg1"/>
                </a:solidFill>
              </a:rPr>
              <a:t>, </a:t>
            </a:r>
            <a:r>
              <a:rPr lang="pt-BR" sz="2000" dirty="0" err="1">
                <a:solidFill>
                  <a:schemeClr val="bg1"/>
                </a:solidFill>
              </a:rPr>
              <a:t>jsonify</a:t>
            </a:r>
            <a:endParaRPr lang="pt-BR" sz="2000" dirty="0">
              <a:solidFill>
                <a:schemeClr val="bg1"/>
              </a:solidFill>
            </a:endParaRP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app = </a:t>
            </a:r>
            <a:r>
              <a:rPr lang="pt-BR" sz="2000" dirty="0" err="1">
                <a:solidFill>
                  <a:schemeClr val="bg1"/>
                </a:solidFill>
              </a:rPr>
              <a:t>Flask</a:t>
            </a:r>
            <a:r>
              <a:rPr lang="pt-BR" sz="2000" dirty="0">
                <a:solidFill>
                  <a:schemeClr val="bg1"/>
                </a:solidFill>
              </a:rPr>
              <a:t>(__</a:t>
            </a:r>
            <a:r>
              <a:rPr lang="pt-BR" sz="2000" dirty="0" err="1">
                <a:solidFill>
                  <a:schemeClr val="bg1"/>
                </a:solidFill>
              </a:rPr>
              <a:t>name</a:t>
            </a:r>
            <a:r>
              <a:rPr lang="pt-BR" sz="2000" dirty="0">
                <a:solidFill>
                  <a:schemeClr val="bg1"/>
                </a:solidFill>
              </a:rPr>
              <a:t>__)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alunos = {}</a:t>
            </a:r>
          </a:p>
          <a:p>
            <a:r>
              <a:rPr lang="pt-BR" sz="2000" dirty="0" err="1">
                <a:solidFill>
                  <a:schemeClr val="bg1"/>
                </a:solidFill>
              </a:rPr>
              <a:t>proximo_id</a:t>
            </a:r>
            <a:r>
              <a:rPr lang="pt-BR" sz="2000" dirty="0">
                <a:solidFill>
                  <a:schemeClr val="bg1"/>
                </a:solidFill>
              </a:rPr>
              <a:t> = 1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@app.route('/aluno', </a:t>
            </a:r>
            <a:r>
              <a:rPr lang="pt-BR" sz="2000" dirty="0" err="1">
                <a:solidFill>
                  <a:schemeClr val="bg1"/>
                </a:solidFill>
              </a:rPr>
              <a:t>methods</a:t>
            </a:r>
            <a:r>
              <a:rPr lang="pt-BR" sz="2000" dirty="0">
                <a:solidFill>
                  <a:schemeClr val="bg1"/>
                </a:solidFill>
              </a:rPr>
              <a:t>=['POST'])</a:t>
            </a:r>
          </a:p>
          <a:p>
            <a:r>
              <a:rPr lang="pt-BR" sz="2000" dirty="0" err="1">
                <a:solidFill>
                  <a:schemeClr val="bg1"/>
                </a:solidFill>
              </a:rPr>
              <a:t>def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criar_aluno</a:t>
            </a:r>
            <a:r>
              <a:rPr lang="pt-BR" sz="2000" dirty="0">
                <a:solidFill>
                  <a:schemeClr val="bg1"/>
                </a:solidFill>
              </a:rPr>
              <a:t>():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global </a:t>
            </a:r>
            <a:r>
              <a:rPr lang="pt-BR" sz="2000" dirty="0" err="1">
                <a:solidFill>
                  <a:schemeClr val="bg1"/>
                </a:solidFill>
              </a:rPr>
              <a:t>proximo_id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    data = </a:t>
            </a:r>
            <a:r>
              <a:rPr lang="pt-BR" sz="2000" dirty="0" err="1">
                <a:solidFill>
                  <a:schemeClr val="bg1"/>
                </a:solidFill>
              </a:rPr>
              <a:t>request.json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    alunos[</a:t>
            </a:r>
            <a:r>
              <a:rPr lang="pt-BR" sz="2000" dirty="0" err="1">
                <a:solidFill>
                  <a:schemeClr val="bg1"/>
                </a:solidFill>
              </a:rPr>
              <a:t>proximo_id</a:t>
            </a:r>
            <a:r>
              <a:rPr lang="pt-BR" sz="2000" dirty="0">
                <a:solidFill>
                  <a:schemeClr val="bg1"/>
                </a:solidFill>
              </a:rPr>
              <a:t>] = {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    "id": </a:t>
            </a:r>
            <a:r>
              <a:rPr lang="pt-BR" sz="2000" dirty="0" err="1">
                <a:solidFill>
                  <a:schemeClr val="bg1"/>
                </a:solidFill>
              </a:rPr>
              <a:t>proximo_id</a:t>
            </a:r>
            <a:r>
              <a:rPr lang="pt-BR" sz="2000" dirty="0">
                <a:solidFill>
                  <a:schemeClr val="bg1"/>
                </a:solidFill>
              </a:rPr>
              <a:t>,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    "nome": data["nome"],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    "idade": data["idade"],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    "curso": data["curso"]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}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</a:t>
            </a:r>
            <a:r>
              <a:rPr lang="pt-BR" sz="2000" dirty="0" err="1">
                <a:solidFill>
                  <a:schemeClr val="bg1"/>
                </a:solidFill>
              </a:rPr>
              <a:t>proximo_id</a:t>
            </a:r>
            <a:r>
              <a:rPr lang="pt-BR" sz="2000" dirty="0">
                <a:solidFill>
                  <a:schemeClr val="bg1"/>
                </a:solidFill>
              </a:rPr>
              <a:t> += 1</a:t>
            </a:r>
          </a:p>
          <a:p>
            <a:r>
              <a:rPr lang="pt-BR" sz="2000" dirty="0">
                <a:solidFill>
                  <a:schemeClr val="bg1"/>
                </a:solidFill>
              </a:rPr>
              <a:t>    </a:t>
            </a:r>
            <a:r>
              <a:rPr lang="pt-BR" sz="2000" dirty="0" err="1">
                <a:solidFill>
                  <a:schemeClr val="bg1"/>
                </a:solidFill>
              </a:rPr>
              <a:t>return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jsonify</a:t>
            </a:r>
            <a:r>
              <a:rPr lang="pt-BR" sz="2000" dirty="0">
                <a:solidFill>
                  <a:schemeClr val="bg1"/>
                </a:solidFill>
              </a:rPr>
              <a:t>(alunos[</a:t>
            </a:r>
            <a:r>
              <a:rPr lang="pt-BR" sz="2000" dirty="0" err="1">
                <a:solidFill>
                  <a:schemeClr val="bg1"/>
                </a:solidFill>
              </a:rPr>
              <a:t>proximo_id</a:t>
            </a:r>
            <a:r>
              <a:rPr lang="pt-BR" sz="2000" dirty="0">
                <a:solidFill>
                  <a:schemeClr val="bg1"/>
                </a:solidFill>
              </a:rPr>
              <a:t> - 1]), 201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E8F5876-8820-D725-A9BE-B745229B0F27}"/>
              </a:ext>
            </a:extLst>
          </p:cNvPr>
          <p:cNvSpPr txBox="1"/>
          <p:nvPr/>
        </p:nvSpPr>
        <p:spPr>
          <a:xfrm>
            <a:off x="7696200" y="4296369"/>
            <a:ext cx="563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Problema?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394607-87F8-3A57-A254-F5CF0AEF8555}"/>
              </a:ext>
            </a:extLst>
          </p:cNvPr>
          <p:cNvSpPr txBox="1"/>
          <p:nvPr/>
        </p:nvSpPr>
        <p:spPr>
          <a:xfrm>
            <a:off x="9119418" y="5074644"/>
            <a:ext cx="71873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</a:rPr>
              <a:t>Esses dados </a:t>
            </a:r>
            <a:r>
              <a:rPr lang="pt-BR" sz="3200" b="1" dirty="0">
                <a:solidFill>
                  <a:srgbClr val="FF0000"/>
                </a:solidFill>
              </a:rPr>
              <a:t>somem quando você reinicia o servidor</a:t>
            </a:r>
            <a:r>
              <a:rPr lang="pt-BR" sz="32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89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animBg="1"/>
      <p:bldP spid="10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AC94-DADD-AADD-A673-6F749526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9DAC923-D065-1AE4-4C8E-659ADC68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Como migrar para </a:t>
            </a:r>
            <a:r>
              <a:rPr lang="pt-BR" dirty="0" err="1"/>
              <a:t>SQLite</a:t>
            </a:r>
            <a:r>
              <a:rPr lang="pt-BR" dirty="0"/>
              <a:t> com ORM (</a:t>
            </a:r>
            <a:r>
              <a:rPr lang="pt-BR" dirty="0" err="1"/>
              <a:t>SQLAlchemy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CA0EBF-3F77-F5E0-7269-A443E2A5D70E}"/>
              </a:ext>
            </a:extLst>
          </p:cNvPr>
          <p:cNvSpPr txBox="1"/>
          <p:nvPr/>
        </p:nvSpPr>
        <p:spPr>
          <a:xfrm>
            <a:off x="449826" y="1790700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pt-BR" sz="3200" dirty="0"/>
              <a:t>Instalar </a:t>
            </a:r>
          </a:p>
          <a:p>
            <a:pPr lvl="3"/>
            <a:r>
              <a:rPr lang="pt-BR" sz="3200" dirty="0"/>
              <a:t>	</a:t>
            </a:r>
            <a:r>
              <a:rPr lang="pt-BR" sz="3200" dirty="0" err="1"/>
              <a:t>pip</a:t>
            </a:r>
            <a:r>
              <a:rPr lang="pt-BR" sz="3200" dirty="0"/>
              <a:t> </a:t>
            </a:r>
            <a:r>
              <a:rPr lang="pt-BR" sz="3200" dirty="0" err="1"/>
              <a:t>install</a:t>
            </a:r>
            <a:r>
              <a:rPr lang="pt-BR" sz="3200" dirty="0"/>
              <a:t> </a:t>
            </a:r>
            <a:r>
              <a:rPr lang="pt-BR" sz="3200" dirty="0" err="1"/>
              <a:t>Flask-SQLAlchemy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C9F2A7-67A4-2384-7558-A9C96E261F9F}"/>
              </a:ext>
            </a:extLst>
          </p:cNvPr>
          <p:cNvSpPr txBox="1"/>
          <p:nvPr/>
        </p:nvSpPr>
        <p:spPr>
          <a:xfrm>
            <a:off x="449826" y="3457519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2. Criar o modelo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7AD5FD-C83A-317E-3DD8-313D6D286247}"/>
              </a:ext>
            </a:extLst>
          </p:cNvPr>
          <p:cNvSpPr txBox="1"/>
          <p:nvPr/>
        </p:nvSpPr>
        <p:spPr>
          <a:xfrm>
            <a:off x="457200" y="4327892"/>
            <a:ext cx="6636774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from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flask_sqlalchemy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import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SQLAlchemy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 err="1">
                <a:solidFill>
                  <a:schemeClr val="bg1"/>
                </a:solidFill>
              </a:rPr>
              <a:t>db</a:t>
            </a:r>
            <a:r>
              <a:rPr lang="pt-BR" dirty="0">
                <a:solidFill>
                  <a:schemeClr val="bg1"/>
                </a:solidFill>
              </a:rPr>
              <a:t> = </a:t>
            </a:r>
            <a:r>
              <a:rPr lang="pt-BR" dirty="0" err="1">
                <a:solidFill>
                  <a:schemeClr val="bg1"/>
                </a:solidFill>
              </a:rPr>
              <a:t>SQLAlchemy</a:t>
            </a:r>
            <a:r>
              <a:rPr lang="pt-BR" dirty="0">
                <a:solidFill>
                  <a:schemeClr val="bg1"/>
                </a:solidFill>
              </a:rPr>
              <a:t>()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 err="1">
                <a:solidFill>
                  <a:schemeClr val="bg1"/>
                </a:solidFill>
              </a:rPr>
              <a:t>class</a:t>
            </a:r>
            <a:r>
              <a:rPr lang="pt-BR" dirty="0">
                <a:solidFill>
                  <a:schemeClr val="bg1"/>
                </a:solidFill>
              </a:rPr>
              <a:t> Aluno(</a:t>
            </a:r>
            <a:r>
              <a:rPr lang="pt-BR" dirty="0" err="1">
                <a:solidFill>
                  <a:schemeClr val="bg1"/>
                </a:solidFill>
              </a:rPr>
              <a:t>db.Model</a:t>
            </a:r>
            <a:r>
              <a:rPr lang="pt-BR" dirty="0">
                <a:solidFill>
                  <a:schemeClr val="bg1"/>
                </a:solidFill>
              </a:rPr>
              <a:t>):</a:t>
            </a:r>
          </a:p>
          <a:p>
            <a:r>
              <a:rPr lang="pt-BR" dirty="0">
                <a:solidFill>
                  <a:schemeClr val="bg1"/>
                </a:solidFill>
              </a:rPr>
              <a:t>    id = </a:t>
            </a:r>
            <a:r>
              <a:rPr lang="pt-BR" dirty="0" err="1">
                <a:solidFill>
                  <a:schemeClr val="bg1"/>
                </a:solidFill>
              </a:rPr>
              <a:t>db.Column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db.Integer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dirty="0" err="1">
                <a:solidFill>
                  <a:schemeClr val="bg1"/>
                </a:solidFill>
              </a:rPr>
              <a:t>primary_key</a:t>
            </a:r>
            <a:r>
              <a:rPr lang="pt-BR" dirty="0">
                <a:solidFill>
                  <a:schemeClr val="bg1"/>
                </a:solidFill>
              </a:rPr>
              <a:t>=</a:t>
            </a:r>
            <a:r>
              <a:rPr lang="pt-BR" dirty="0" err="1">
                <a:solidFill>
                  <a:schemeClr val="bg1"/>
                </a:solidFill>
              </a:rPr>
              <a:t>True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  <a:p>
            <a:r>
              <a:rPr lang="pt-BR" dirty="0">
                <a:solidFill>
                  <a:schemeClr val="bg1"/>
                </a:solidFill>
              </a:rPr>
              <a:t>    nome = </a:t>
            </a:r>
            <a:r>
              <a:rPr lang="pt-BR" dirty="0" err="1">
                <a:solidFill>
                  <a:schemeClr val="bg1"/>
                </a:solidFill>
              </a:rPr>
              <a:t>db.Column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db.String</a:t>
            </a:r>
            <a:r>
              <a:rPr lang="pt-BR" dirty="0">
                <a:solidFill>
                  <a:schemeClr val="bg1"/>
                </a:solidFill>
              </a:rPr>
              <a:t>(100), </a:t>
            </a:r>
            <a:r>
              <a:rPr lang="pt-BR" dirty="0" err="1">
                <a:solidFill>
                  <a:schemeClr val="bg1"/>
                </a:solidFill>
              </a:rPr>
              <a:t>nullable</a:t>
            </a:r>
            <a:r>
              <a:rPr lang="pt-BR" dirty="0">
                <a:solidFill>
                  <a:schemeClr val="bg1"/>
                </a:solidFill>
              </a:rPr>
              <a:t>=False)</a:t>
            </a:r>
          </a:p>
          <a:p>
            <a:r>
              <a:rPr lang="pt-BR" dirty="0">
                <a:solidFill>
                  <a:schemeClr val="bg1"/>
                </a:solidFill>
              </a:rPr>
              <a:t>    idade = </a:t>
            </a:r>
            <a:r>
              <a:rPr lang="pt-BR" dirty="0" err="1">
                <a:solidFill>
                  <a:schemeClr val="bg1"/>
                </a:solidFill>
              </a:rPr>
              <a:t>db.Column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db.Integer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  <a:p>
            <a:r>
              <a:rPr lang="pt-BR" dirty="0">
                <a:solidFill>
                  <a:schemeClr val="bg1"/>
                </a:solidFill>
              </a:rPr>
              <a:t>    curso = </a:t>
            </a:r>
            <a:r>
              <a:rPr lang="pt-BR" dirty="0" err="1">
                <a:solidFill>
                  <a:schemeClr val="bg1"/>
                </a:solidFill>
              </a:rPr>
              <a:t>db.Column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db.String</a:t>
            </a:r>
            <a:r>
              <a:rPr lang="pt-BR" dirty="0">
                <a:solidFill>
                  <a:schemeClr val="bg1"/>
                </a:solidFill>
              </a:rPr>
              <a:t>(100))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4BA93F-685C-927E-AEA4-3CE2B997FC5E}"/>
              </a:ext>
            </a:extLst>
          </p:cNvPr>
          <p:cNvSpPr txBox="1"/>
          <p:nvPr/>
        </p:nvSpPr>
        <p:spPr>
          <a:xfrm>
            <a:off x="7620000" y="4235559"/>
            <a:ext cx="10210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pt-BR" sz="2800" dirty="0">
                <a:solidFill>
                  <a:srgbClr val="FF0000"/>
                </a:solidFill>
              </a:rPr>
              <a:t>Define uma classe chamada </a:t>
            </a:r>
            <a:r>
              <a:rPr lang="pt-BR" sz="2800" b="1" dirty="0">
                <a:solidFill>
                  <a:srgbClr val="FF0000"/>
                </a:solidFill>
              </a:rPr>
              <a:t>Aluno</a:t>
            </a:r>
            <a:r>
              <a:rPr lang="pt-BR" sz="2800" dirty="0">
                <a:solidFill>
                  <a:srgbClr val="FF0000"/>
                </a:solidFill>
              </a:rPr>
              <a:t> que herda da classe </a:t>
            </a:r>
            <a:r>
              <a:rPr lang="pt-BR" sz="2800" b="1" dirty="0" err="1">
                <a:solidFill>
                  <a:srgbClr val="FF0000"/>
                </a:solidFill>
              </a:rPr>
              <a:t>db.Model</a:t>
            </a:r>
            <a:r>
              <a:rPr lang="pt-BR" sz="2800" dirty="0">
                <a:solidFill>
                  <a:srgbClr val="FF0000"/>
                </a:solidFill>
              </a:rPr>
              <a:t>, que é uma classe base do </a:t>
            </a:r>
            <a:r>
              <a:rPr lang="pt-BR" sz="2800" b="1" dirty="0" err="1">
                <a:solidFill>
                  <a:srgbClr val="FF0000"/>
                </a:solidFill>
              </a:rPr>
              <a:t>SQLAlchemy</a:t>
            </a:r>
            <a:r>
              <a:rPr lang="pt-BR" sz="2800" dirty="0">
                <a:solidFill>
                  <a:srgbClr val="FF0000"/>
                </a:solidFill>
              </a:rPr>
              <a:t> para a definição de modelos. </a:t>
            </a:r>
          </a:p>
          <a:p>
            <a:pPr marL="114300" indent="0">
              <a:buNone/>
            </a:pPr>
            <a:endParaRPr lang="pt-BR" sz="2800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pt-BR" sz="2800" dirty="0">
                <a:solidFill>
                  <a:srgbClr val="FF0000"/>
                </a:solidFill>
              </a:rPr>
              <a:t>Isso significa que a classe Aluno será um modelo que pode ser mapeado para uma tabela no banco de dados.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B6B6A4-845D-ABB7-3BF1-98D3141A2A0D}"/>
              </a:ext>
            </a:extLst>
          </p:cNvPr>
          <p:cNvSpPr txBox="1"/>
          <p:nvPr/>
        </p:nvSpPr>
        <p:spPr>
          <a:xfrm>
            <a:off x="304800" y="7697331"/>
            <a:ext cx="13944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114300" indent="0">
              <a:buNone/>
              <a:defRPr sz="2800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Depois é definido um campo </a:t>
            </a:r>
            <a:r>
              <a:rPr lang="pt-BR" b="1" dirty="0"/>
              <a:t>id</a:t>
            </a:r>
            <a:r>
              <a:rPr lang="pt-BR" dirty="0"/>
              <a:t> que será a </a:t>
            </a:r>
            <a:r>
              <a:rPr lang="pt-BR" b="1" dirty="0"/>
              <a:t>chave primária</a:t>
            </a:r>
            <a:r>
              <a:rPr lang="pt-BR" dirty="0"/>
              <a:t> da tabela.</a:t>
            </a:r>
          </a:p>
          <a:p>
            <a:endParaRPr lang="pt-BR" dirty="0"/>
          </a:p>
          <a:p>
            <a:r>
              <a:rPr lang="pt-BR" b="1" dirty="0" err="1"/>
              <a:t>db.Column</a:t>
            </a:r>
            <a:r>
              <a:rPr lang="pt-BR" b="1" dirty="0"/>
              <a:t> </a:t>
            </a:r>
            <a:r>
              <a:rPr lang="pt-BR" dirty="0"/>
              <a:t>define uma coluna na tabela do banco de dados. </a:t>
            </a:r>
          </a:p>
          <a:p>
            <a:r>
              <a:rPr lang="pt-BR" b="1" dirty="0" err="1"/>
              <a:t>db.Integer</a:t>
            </a:r>
            <a:r>
              <a:rPr lang="pt-BR" b="1" dirty="0"/>
              <a:t> </a:t>
            </a:r>
            <a:r>
              <a:rPr lang="pt-BR" dirty="0"/>
              <a:t>especifica o tipo de dados como inteiro. </a:t>
            </a:r>
          </a:p>
          <a:p>
            <a:r>
              <a:rPr lang="pt-BR" b="1" dirty="0" err="1"/>
              <a:t>primary_key</a:t>
            </a:r>
            <a:r>
              <a:rPr lang="pt-BR" b="1" dirty="0"/>
              <a:t>=</a:t>
            </a:r>
            <a:r>
              <a:rPr lang="pt-BR" b="1" dirty="0" err="1"/>
              <a:t>True</a:t>
            </a:r>
            <a:r>
              <a:rPr lang="pt-BR" b="1" dirty="0"/>
              <a:t> </a:t>
            </a:r>
            <a:r>
              <a:rPr lang="pt-BR" dirty="0"/>
              <a:t>indica que este campo será a chave primária da tabela.</a:t>
            </a:r>
          </a:p>
        </p:txBody>
      </p:sp>
    </p:spTree>
    <p:extLst>
      <p:ext uri="{BB962C8B-B14F-4D97-AF65-F5344CB8AC3E}">
        <p14:creationId xmlns:p14="http://schemas.microsoft.com/office/powerpoint/2010/main" val="37595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12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2FFA-FC4E-8459-EE91-D25E56FD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B4B11AA-5142-1E44-09C3-BEA61E1F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Como migrar para </a:t>
            </a:r>
            <a:r>
              <a:rPr lang="pt-BR" dirty="0" err="1"/>
              <a:t>SQLite</a:t>
            </a:r>
            <a:r>
              <a:rPr lang="pt-BR" dirty="0"/>
              <a:t> com ORM (</a:t>
            </a:r>
            <a:r>
              <a:rPr lang="pt-BR" dirty="0" err="1"/>
              <a:t>SQLAlchemy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9A77DB-9C39-2BB1-2818-70E2C7A4480A}"/>
              </a:ext>
            </a:extLst>
          </p:cNvPr>
          <p:cNvSpPr txBox="1"/>
          <p:nvPr/>
        </p:nvSpPr>
        <p:spPr>
          <a:xfrm>
            <a:off x="533400" y="1794143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pt-BR" sz="3200" dirty="0"/>
              <a:t>3. Configurar (config.py)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3B65A1-B8ED-7863-1E51-9E16403E8A17}"/>
              </a:ext>
            </a:extLst>
          </p:cNvPr>
          <p:cNvSpPr txBox="1"/>
          <p:nvPr/>
        </p:nvSpPr>
        <p:spPr>
          <a:xfrm>
            <a:off x="685800" y="2857500"/>
            <a:ext cx="11734800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pt-BR" sz="2400" i="1" dirty="0" err="1">
                <a:solidFill>
                  <a:schemeClr val="bg1"/>
                </a:solidFill>
              </a:rPr>
              <a:t>from</a:t>
            </a:r>
            <a:r>
              <a:rPr lang="pt-BR" sz="2400" i="1" dirty="0">
                <a:solidFill>
                  <a:schemeClr val="bg1"/>
                </a:solidFill>
              </a:rPr>
              <a:t> </a:t>
            </a:r>
            <a:r>
              <a:rPr lang="pt-BR" sz="2400" i="1" dirty="0" err="1">
                <a:solidFill>
                  <a:schemeClr val="bg1"/>
                </a:solidFill>
              </a:rPr>
              <a:t>flask_sqlalchemy</a:t>
            </a:r>
            <a:r>
              <a:rPr lang="pt-BR" sz="2400" i="1" dirty="0">
                <a:solidFill>
                  <a:schemeClr val="bg1"/>
                </a:solidFill>
              </a:rPr>
              <a:t> </a:t>
            </a:r>
            <a:r>
              <a:rPr lang="pt-BR" sz="2400" i="1" dirty="0" err="1">
                <a:solidFill>
                  <a:schemeClr val="bg1"/>
                </a:solidFill>
              </a:rPr>
              <a:t>import</a:t>
            </a:r>
            <a:r>
              <a:rPr lang="pt-BR" sz="2400" i="1" dirty="0">
                <a:solidFill>
                  <a:schemeClr val="bg1"/>
                </a:solidFill>
              </a:rPr>
              <a:t> </a:t>
            </a:r>
            <a:r>
              <a:rPr lang="pt-BR" sz="2400" i="1" dirty="0" err="1">
                <a:solidFill>
                  <a:schemeClr val="bg1"/>
                </a:solidFill>
              </a:rPr>
              <a:t>SQLAlchemy</a:t>
            </a:r>
            <a:endParaRPr lang="pt-BR" sz="2400" i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pt-BR" sz="2400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pt-BR" sz="2400" dirty="0">
                <a:solidFill>
                  <a:schemeClr val="bg1"/>
                </a:solidFill>
              </a:rPr>
              <a:t>e novas configurações.</a:t>
            </a:r>
          </a:p>
          <a:p>
            <a:pPr marL="114300" indent="0">
              <a:buNone/>
            </a:pPr>
            <a:endParaRPr lang="pt-BR" sz="240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pt-BR" sz="2400" b="0" dirty="0" err="1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app.config</a:t>
            </a:r>
            <a: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["SQLALCHEMY_DATABASE_URI"] = "</a:t>
            </a:r>
            <a:r>
              <a:rPr lang="pt-BR" sz="2400" b="0" dirty="0" err="1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sqlite</a:t>
            </a:r>
            <a: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:///</a:t>
            </a:r>
            <a:r>
              <a:rPr lang="pt-BR" sz="2400" b="0" dirty="0" err="1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app.db</a:t>
            </a:r>
            <a: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"</a:t>
            </a:r>
          </a:p>
          <a:p>
            <a:pPr marL="114300" indent="0">
              <a:buNone/>
            </a:pPr>
            <a:r>
              <a:rPr lang="pt-BR" sz="2400" b="0" dirty="0" err="1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app.config</a:t>
            </a:r>
            <a: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['SQLALCHEMY_TRACK_MODIFICATIONS'] = False</a:t>
            </a:r>
          </a:p>
          <a:p>
            <a:pPr marL="114300" indent="0">
              <a:buNone/>
            </a:pPr>
            <a:b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</a:br>
            <a:r>
              <a:rPr lang="pt-BR" sz="2400" b="0" dirty="0" err="1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db</a:t>
            </a:r>
            <a: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 = </a:t>
            </a:r>
            <a:r>
              <a:rPr lang="pt-BR" sz="2400" b="0" dirty="0" err="1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SQLAlchemy</a:t>
            </a:r>
            <a:r>
              <a:rPr lang="pt-BR" sz="2400" b="0" dirty="0">
                <a:solidFill>
                  <a:schemeClr val="bg1"/>
                </a:solidFill>
                <a:effectLst/>
                <a:highlight>
                  <a:srgbClr val="222222"/>
                </a:highlight>
                <a:latin typeface="Consolas" panose="020B0609020204030204" pitchFamily="49" charset="0"/>
              </a:rPr>
              <a:t>(app)</a:t>
            </a:r>
          </a:p>
        </p:txBody>
      </p:sp>
    </p:spTree>
    <p:extLst>
      <p:ext uri="{BB962C8B-B14F-4D97-AF65-F5344CB8AC3E}">
        <p14:creationId xmlns:p14="http://schemas.microsoft.com/office/powerpoint/2010/main" val="3014622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71F3-2542-02D6-7712-CC74C7607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89D7303-94E3-FB8B-9F06-30C876F0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7066492" cy="738664"/>
          </a:xfrm>
        </p:spPr>
        <p:txBody>
          <a:bodyPr/>
          <a:lstStyle/>
          <a:p>
            <a:r>
              <a:rPr lang="pt-BR" dirty="0"/>
              <a:t>Como migrar para </a:t>
            </a:r>
            <a:r>
              <a:rPr lang="pt-BR" dirty="0" err="1"/>
              <a:t>SQLite</a:t>
            </a:r>
            <a:r>
              <a:rPr lang="pt-BR" dirty="0"/>
              <a:t> com ORM (</a:t>
            </a:r>
            <a:r>
              <a:rPr lang="pt-BR" dirty="0" err="1"/>
              <a:t>SQLAlchemy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2C31B9-900B-B5A5-2A55-3A3820BC04DE}"/>
              </a:ext>
            </a:extLst>
          </p:cNvPr>
          <p:cNvSpPr txBox="1"/>
          <p:nvPr/>
        </p:nvSpPr>
        <p:spPr>
          <a:xfrm>
            <a:off x="533400" y="1794143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pt-BR" sz="3200" dirty="0"/>
              <a:t>4. Inicialização (app.py)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EBA15E-7766-F5ED-5F47-D62D9D02D25C}"/>
              </a:ext>
            </a:extLst>
          </p:cNvPr>
          <p:cNvSpPr txBox="1"/>
          <p:nvPr/>
        </p:nvSpPr>
        <p:spPr>
          <a:xfrm>
            <a:off x="533400" y="4762500"/>
            <a:ext cx="15771092" cy="389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>
                <a:solidFill>
                  <a:srgbClr val="FF0000"/>
                </a:solidFill>
              </a:rPr>
              <a:t>Adicionamos o código </a:t>
            </a:r>
            <a:r>
              <a:rPr lang="pt-BR" sz="2800" b="1" dirty="0" err="1">
                <a:solidFill>
                  <a:srgbClr val="FF0000"/>
                </a:solidFill>
              </a:rPr>
              <a:t>with</a:t>
            </a:r>
            <a:r>
              <a:rPr lang="pt-BR" sz="2800" b="1" dirty="0">
                <a:solidFill>
                  <a:srgbClr val="FF0000"/>
                </a:solidFill>
              </a:rPr>
              <a:t> </a:t>
            </a:r>
            <a:r>
              <a:rPr lang="pt-BR" sz="2800" b="1" dirty="0" err="1">
                <a:solidFill>
                  <a:srgbClr val="FF0000"/>
                </a:solidFill>
              </a:rPr>
              <a:t>app.app_context</a:t>
            </a:r>
            <a:r>
              <a:rPr lang="pt-BR" sz="2800" b="1" dirty="0">
                <a:solidFill>
                  <a:srgbClr val="FF0000"/>
                </a:solidFill>
              </a:rPr>
              <a:t>(): </a:t>
            </a:r>
            <a:r>
              <a:rPr lang="pt-BR" sz="2800" b="1" dirty="0" err="1">
                <a:solidFill>
                  <a:srgbClr val="FF0000"/>
                </a:solidFill>
              </a:rPr>
              <a:t>db.create_all</a:t>
            </a:r>
            <a:r>
              <a:rPr lang="pt-BR" sz="2800" b="1" dirty="0">
                <a:solidFill>
                  <a:srgbClr val="FF0000"/>
                </a:solidFill>
              </a:rPr>
              <a:t>(). </a:t>
            </a:r>
            <a:r>
              <a:rPr lang="pt-BR" sz="2800" dirty="0">
                <a:solidFill>
                  <a:srgbClr val="FF0000"/>
                </a:solidFill>
              </a:rPr>
              <a:t>Isso garante que o </a:t>
            </a:r>
            <a:r>
              <a:rPr lang="pt-BR" sz="2800" dirty="0" err="1">
                <a:solidFill>
                  <a:srgbClr val="FF0000"/>
                </a:solidFill>
              </a:rPr>
              <a:t>create_all</a:t>
            </a:r>
            <a:r>
              <a:rPr lang="pt-BR" sz="2800" dirty="0">
                <a:solidFill>
                  <a:srgbClr val="FF0000"/>
                </a:solidFill>
              </a:rPr>
              <a:t>() seja chamado dentro do contexto do aplicativo </a:t>
            </a:r>
            <a:r>
              <a:rPr lang="pt-BR" sz="2800" dirty="0" err="1">
                <a:solidFill>
                  <a:srgbClr val="FF0000"/>
                </a:solidFill>
              </a:rPr>
              <a:t>Flask</a:t>
            </a:r>
            <a:r>
              <a:rPr lang="pt-BR" sz="2800" dirty="0">
                <a:solidFill>
                  <a:srgbClr val="FF0000"/>
                </a:solidFill>
              </a:rPr>
              <a:t>, o que é necessário quando se trabalha com o </a:t>
            </a:r>
            <a:r>
              <a:rPr lang="pt-BR" sz="2800" dirty="0" err="1">
                <a:solidFill>
                  <a:srgbClr val="FF0000"/>
                </a:solidFill>
              </a:rPr>
              <a:t>SQLAlchemy</a:t>
            </a:r>
            <a:r>
              <a:rPr lang="pt-BR" sz="2800" dirty="0">
                <a:solidFill>
                  <a:srgbClr val="FF0000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BR" sz="28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2800" dirty="0">
                <a:solidFill>
                  <a:srgbClr val="FF0000"/>
                </a:solidFill>
              </a:rPr>
              <a:t>O método </a:t>
            </a:r>
            <a:r>
              <a:rPr lang="pt-BR" sz="2800" dirty="0" err="1">
                <a:solidFill>
                  <a:srgbClr val="FF0000"/>
                </a:solidFill>
              </a:rPr>
              <a:t>create_all</a:t>
            </a:r>
            <a:r>
              <a:rPr lang="pt-BR" sz="2800" dirty="0">
                <a:solidFill>
                  <a:srgbClr val="FF0000"/>
                </a:solidFill>
              </a:rPr>
              <a:t>() cria todas as tabelas definidas nos modelos </a:t>
            </a:r>
            <a:r>
              <a:rPr lang="pt-BR" sz="2800" dirty="0" err="1">
                <a:solidFill>
                  <a:srgbClr val="FF0000"/>
                </a:solidFill>
              </a:rPr>
              <a:t>SQLAlchemy</a:t>
            </a:r>
            <a:r>
              <a:rPr lang="pt-BR" sz="2800" dirty="0">
                <a:solidFill>
                  <a:srgbClr val="FF0000"/>
                </a:solidFill>
              </a:rPr>
              <a:t>, caso elas ainda não existam no banco de dados.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EA890E-B5A2-6881-82F3-48482F55606E}"/>
              </a:ext>
            </a:extLst>
          </p:cNvPr>
          <p:cNvSpPr txBox="1"/>
          <p:nvPr/>
        </p:nvSpPr>
        <p:spPr>
          <a:xfrm>
            <a:off x="762000" y="2705100"/>
            <a:ext cx="4495800" cy="113184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pt-BR" sz="2400" dirty="0" err="1">
                <a:solidFill>
                  <a:schemeClr val="bg1"/>
                </a:solidFill>
              </a:rPr>
              <a:t>with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app.app_context</a:t>
            </a:r>
            <a:r>
              <a:rPr lang="pt-BR" sz="2400" dirty="0">
                <a:solidFill>
                  <a:schemeClr val="bg1"/>
                </a:solidFill>
              </a:rPr>
              <a:t>():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pt-BR" sz="2400" dirty="0">
                <a:solidFill>
                  <a:schemeClr val="bg1"/>
                </a:solidFill>
              </a:rPr>
              <a:t>    </a:t>
            </a:r>
            <a:r>
              <a:rPr lang="pt-BR" sz="2400" dirty="0" err="1">
                <a:solidFill>
                  <a:schemeClr val="bg1"/>
                </a:solidFill>
              </a:rPr>
              <a:t>db.create_all</a:t>
            </a:r>
            <a:r>
              <a:rPr lang="pt-BR" sz="2400" dirty="0">
                <a:solidFill>
                  <a:schemeClr val="bg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54668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4936-F8F9-EB16-8FA9-6F21FAEB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91C8EE-CA98-A45B-9BA3-5CC17D8CD829}"/>
              </a:ext>
            </a:extLst>
          </p:cNvPr>
          <p:cNvSpPr txBox="1"/>
          <p:nvPr/>
        </p:nvSpPr>
        <p:spPr>
          <a:xfrm>
            <a:off x="685800" y="266700"/>
            <a:ext cx="14249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Relacionamentos e Chaves Estrangeiras com </a:t>
            </a:r>
            <a:r>
              <a:rPr lang="pt-BR" sz="4400" b="1" dirty="0" err="1"/>
              <a:t>SQLAlchemy</a:t>
            </a:r>
            <a:endParaRPr lang="pt-BR" sz="4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25F36BB-4FB2-9D38-728F-7526B8A7CD48}"/>
              </a:ext>
            </a:extLst>
          </p:cNvPr>
          <p:cNvSpPr txBox="1"/>
          <p:nvPr/>
        </p:nvSpPr>
        <p:spPr>
          <a:xfrm>
            <a:off x="680357" y="2171700"/>
            <a:ext cx="1676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/>
              <a:t>O que é uma Chave Estrangeira (</a:t>
            </a:r>
            <a:r>
              <a:rPr lang="pt-BR" sz="4000" dirty="0" err="1"/>
              <a:t>Foreign</a:t>
            </a:r>
            <a:r>
              <a:rPr lang="pt-BR" sz="4000" dirty="0"/>
              <a:t> Key)?</a:t>
            </a:r>
          </a:p>
          <a:p>
            <a:endParaRPr lang="pt-BR" sz="4000" dirty="0"/>
          </a:p>
          <a:p>
            <a:r>
              <a:rPr lang="pt-BR" sz="4000" dirty="0"/>
              <a:t>Uma chave estrangeira é um campo que cria um vínculo entre duas tabelas.</a:t>
            </a:r>
          </a:p>
          <a:p>
            <a:endParaRPr lang="pt-BR" sz="4000" dirty="0"/>
          </a:p>
          <a:p>
            <a:r>
              <a:rPr lang="pt-BR" sz="4000" dirty="0"/>
              <a:t>Ela aponta para a chave primária de outra tabela.</a:t>
            </a:r>
          </a:p>
          <a:p>
            <a:endParaRPr lang="pt-BR" sz="4000" dirty="0"/>
          </a:p>
          <a:p>
            <a:r>
              <a:rPr lang="pt-BR" sz="4000" b="1" dirty="0">
                <a:solidFill>
                  <a:srgbClr val="FF0000"/>
                </a:solidFill>
              </a:rPr>
              <a:t>Exemplo prático: uma tabela Turma pode ter um campo </a:t>
            </a:r>
            <a:r>
              <a:rPr lang="pt-BR" sz="4000" b="1" dirty="0" err="1">
                <a:solidFill>
                  <a:srgbClr val="FF0000"/>
                </a:solidFill>
              </a:rPr>
              <a:t>professor_id</a:t>
            </a:r>
            <a:r>
              <a:rPr lang="pt-BR" sz="4000" b="1" dirty="0">
                <a:solidFill>
                  <a:srgbClr val="FF0000"/>
                </a:solidFill>
              </a:rPr>
              <a:t> que aponta para a tabela Professor.</a:t>
            </a:r>
          </a:p>
        </p:txBody>
      </p:sp>
    </p:spTree>
    <p:extLst>
      <p:ext uri="{BB962C8B-B14F-4D97-AF65-F5344CB8AC3E}">
        <p14:creationId xmlns:p14="http://schemas.microsoft.com/office/powerpoint/2010/main" val="3640088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9F7C-245C-43CF-EF00-8048A498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A1492E0-88D1-98C7-32B9-8DDA1C433CB4}"/>
              </a:ext>
            </a:extLst>
          </p:cNvPr>
          <p:cNvSpPr txBox="1"/>
          <p:nvPr/>
        </p:nvSpPr>
        <p:spPr>
          <a:xfrm>
            <a:off x="685800" y="266700"/>
            <a:ext cx="14249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Usando Chaves Estrangeiras com </a:t>
            </a:r>
            <a:r>
              <a:rPr lang="pt-BR" sz="4400" b="1" dirty="0" err="1"/>
              <a:t>SQLAlchemy</a:t>
            </a:r>
            <a:endParaRPr lang="pt-BR" sz="4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DE95CC-1249-7CE1-69C7-352AEA958C64}"/>
              </a:ext>
            </a:extLst>
          </p:cNvPr>
          <p:cNvSpPr txBox="1"/>
          <p:nvPr/>
        </p:nvSpPr>
        <p:spPr>
          <a:xfrm>
            <a:off x="838200" y="1562100"/>
            <a:ext cx="14249400" cy="295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 err="1"/>
              <a:t>class</a:t>
            </a:r>
            <a:r>
              <a:rPr lang="pt-BR" sz="3200" dirty="0"/>
              <a:t> Turma(</a:t>
            </a:r>
            <a:r>
              <a:rPr lang="pt-BR" sz="3200" dirty="0" err="1"/>
              <a:t>db.Model</a:t>
            </a:r>
            <a:r>
              <a:rPr lang="pt-BR" sz="3200" dirty="0"/>
              <a:t>):</a:t>
            </a:r>
          </a:p>
          <a:p>
            <a:pPr>
              <a:lnSpc>
                <a:spcPct val="150000"/>
              </a:lnSpc>
            </a:pPr>
            <a:r>
              <a:rPr lang="pt-BR" sz="3200" dirty="0"/>
              <a:t>    id = </a:t>
            </a:r>
            <a:r>
              <a:rPr lang="pt-BR" sz="3200" dirty="0" err="1"/>
              <a:t>db.Column</a:t>
            </a:r>
            <a:r>
              <a:rPr lang="pt-BR" sz="3200" dirty="0"/>
              <a:t>(</a:t>
            </a:r>
            <a:r>
              <a:rPr lang="pt-BR" sz="3200" dirty="0" err="1"/>
              <a:t>db.Integer</a:t>
            </a:r>
            <a:r>
              <a:rPr lang="pt-BR" sz="3200" dirty="0"/>
              <a:t>, </a:t>
            </a:r>
            <a:r>
              <a:rPr lang="pt-BR" sz="3200" dirty="0" err="1"/>
              <a:t>primary_key</a:t>
            </a:r>
            <a:r>
              <a:rPr lang="pt-BR" sz="3200" dirty="0"/>
              <a:t>=</a:t>
            </a:r>
            <a:r>
              <a:rPr lang="pt-BR" sz="3200" dirty="0" err="1"/>
              <a:t>True</a:t>
            </a:r>
            <a:r>
              <a:rPr lang="pt-BR" sz="32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3200" dirty="0"/>
              <a:t>    nome = </a:t>
            </a:r>
            <a:r>
              <a:rPr lang="pt-BR" sz="3200" dirty="0" err="1"/>
              <a:t>db.Column</a:t>
            </a:r>
            <a:r>
              <a:rPr lang="pt-BR" sz="3200" dirty="0"/>
              <a:t>(</a:t>
            </a:r>
            <a:r>
              <a:rPr lang="pt-BR" sz="3200" dirty="0" err="1"/>
              <a:t>db.String</a:t>
            </a:r>
            <a:r>
              <a:rPr lang="pt-BR" sz="3200" dirty="0"/>
              <a:t>(50))</a:t>
            </a:r>
          </a:p>
          <a:p>
            <a:pPr>
              <a:lnSpc>
                <a:spcPct val="150000"/>
              </a:lnSpc>
            </a:pPr>
            <a:r>
              <a:rPr lang="pt-BR" sz="3200" dirty="0"/>
              <a:t>    </a:t>
            </a:r>
            <a:r>
              <a:rPr lang="pt-BR" sz="3200" dirty="0" err="1">
                <a:solidFill>
                  <a:srgbClr val="FF0000"/>
                </a:solidFill>
              </a:rPr>
              <a:t>professor_id</a:t>
            </a:r>
            <a:r>
              <a:rPr lang="pt-BR" sz="3200" dirty="0">
                <a:solidFill>
                  <a:srgbClr val="FF0000"/>
                </a:solidFill>
              </a:rPr>
              <a:t> = </a:t>
            </a:r>
            <a:r>
              <a:rPr lang="pt-BR" sz="3200" dirty="0" err="1">
                <a:solidFill>
                  <a:srgbClr val="FF0000"/>
                </a:solidFill>
              </a:rPr>
              <a:t>db.Column</a:t>
            </a:r>
            <a:r>
              <a:rPr lang="pt-BR" sz="3200" dirty="0">
                <a:solidFill>
                  <a:srgbClr val="FF0000"/>
                </a:solidFill>
              </a:rPr>
              <a:t>(</a:t>
            </a:r>
            <a:r>
              <a:rPr lang="pt-BR" sz="3200" dirty="0" err="1">
                <a:solidFill>
                  <a:srgbClr val="FF0000"/>
                </a:solidFill>
              </a:rPr>
              <a:t>db.Integer</a:t>
            </a:r>
            <a:r>
              <a:rPr lang="pt-BR" sz="3200" dirty="0">
                <a:solidFill>
                  <a:srgbClr val="FF0000"/>
                </a:solidFill>
              </a:rPr>
              <a:t>, </a:t>
            </a:r>
            <a:r>
              <a:rPr lang="pt-BR" sz="3200" dirty="0" err="1">
                <a:solidFill>
                  <a:srgbClr val="FF0000"/>
                </a:solidFill>
              </a:rPr>
              <a:t>db.ForeignKey</a:t>
            </a:r>
            <a:r>
              <a:rPr lang="pt-BR" sz="3200" dirty="0">
                <a:solidFill>
                  <a:srgbClr val="FF0000"/>
                </a:solidFill>
              </a:rPr>
              <a:t>('professor.id'))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A87B90-10E8-50AB-CE52-3CE9A1DDB43B}"/>
              </a:ext>
            </a:extLst>
          </p:cNvPr>
          <p:cNvSpPr txBox="1"/>
          <p:nvPr/>
        </p:nvSpPr>
        <p:spPr>
          <a:xfrm>
            <a:off x="533400" y="5448300"/>
            <a:ext cx="15392400" cy="1478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professor_id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 é a chave estrangeira.</a:t>
            </a:r>
          </a:p>
          <a:p>
            <a:pPr>
              <a:lnSpc>
                <a:spcPct val="150000"/>
              </a:lnSpc>
            </a:pP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'professor.id' é uma chave que referencia a tabela professor e a coluna id.</a:t>
            </a:r>
          </a:p>
        </p:txBody>
      </p:sp>
    </p:spTree>
    <p:extLst>
      <p:ext uri="{BB962C8B-B14F-4D97-AF65-F5344CB8AC3E}">
        <p14:creationId xmlns:p14="http://schemas.microsoft.com/office/powerpoint/2010/main" val="27155080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6D7E-A574-936D-9CCF-73ED0E6B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998C7F11-83A8-0A74-05C2-8DE6743A33B3}"/>
              </a:ext>
            </a:extLst>
          </p:cNvPr>
          <p:cNvSpPr txBox="1"/>
          <p:nvPr/>
        </p:nvSpPr>
        <p:spPr>
          <a:xfrm>
            <a:off x="685800" y="266700"/>
            <a:ext cx="14249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Relacionamentos com </a:t>
            </a:r>
            <a:r>
              <a:rPr lang="pt-BR" sz="4400" b="1" dirty="0" err="1">
                <a:solidFill>
                  <a:srgbClr val="FF0000"/>
                </a:solidFill>
              </a:rPr>
              <a:t>relationship</a:t>
            </a:r>
            <a:endParaRPr lang="pt-BR" sz="44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25ABB2F-B4E6-4CAB-B290-14BB15A7E2CE}"/>
              </a:ext>
            </a:extLst>
          </p:cNvPr>
          <p:cNvSpPr txBox="1"/>
          <p:nvPr/>
        </p:nvSpPr>
        <p:spPr>
          <a:xfrm>
            <a:off x="838200" y="1562100"/>
            <a:ext cx="1676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Para criar o vínculo entre os modelos no Python (e não só no banco), usamos </a:t>
            </a:r>
            <a:r>
              <a:rPr lang="pt-BR" sz="3200" b="1" dirty="0" err="1"/>
              <a:t>relationship</a:t>
            </a:r>
            <a:r>
              <a:rPr lang="pt-BR" sz="3200" dirty="0"/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5ABFA0-5C2D-2ECB-596E-9512A5048476}"/>
              </a:ext>
            </a:extLst>
          </p:cNvPr>
          <p:cNvSpPr txBox="1"/>
          <p:nvPr/>
        </p:nvSpPr>
        <p:spPr>
          <a:xfrm>
            <a:off x="1066800" y="2857500"/>
            <a:ext cx="12954000" cy="259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 err="1"/>
              <a:t>class</a:t>
            </a:r>
            <a:r>
              <a:rPr lang="pt-BR" sz="2800" dirty="0"/>
              <a:t> Professor(</a:t>
            </a:r>
            <a:r>
              <a:rPr lang="pt-BR" sz="2800" dirty="0" err="1"/>
              <a:t>db.Model</a:t>
            </a:r>
            <a:r>
              <a:rPr lang="pt-BR" sz="2800" dirty="0"/>
              <a:t>):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id = </a:t>
            </a:r>
            <a:r>
              <a:rPr lang="pt-BR" sz="2800" dirty="0" err="1"/>
              <a:t>db.Column</a:t>
            </a:r>
            <a:r>
              <a:rPr lang="pt-BR" sz="2800" dirty="0"/>
              <a:t>(</a:t>
            </a:r>
            <a:r>
              <a:rPr lang="pt-BR" sz="2800" dirty="0" err="1"/>
              <a:t>db.Integer</a:t>
            </a:r>
            <a:r>
              <a:rPr lang="pt-BR" sz="2800" dirty="0"/>
              <a:t>, </a:t>
            </a:r>
            <a:r>
              <a:rPr lang="pt-BR" sz="2800" dirty="0" err="1"/>
              <a:t>primary_key</a:t>
            </a:r>
            <a:r>
              <a:rPr lang="pt-BR" sz="2800" dirty="0"/>
              <a:t>=</a:t>
            </a:r>
            <a:r>
              <a:rPr lang="pt-BR" sz="2800" dirty="0" err="1"/>
              <a:t>True</a:t>
            </a:r>
            <a:r>
              <a:rPr lang="pt-BR" sz="28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nome = </a:t>
            </a:r>
            <a:r>
              <a:rPr lang="pt-BR" sz="2800" dirty="0" err="1"/>
              <a:t>db.Column</a:t>
            </a:r>
            <a:r>
              <a:rPr lang="pt-BR" sz="2800" dirty="0"/>
              <a:t>(</a:t>
            </a:r>
            <a:r>
              <a:rPr lang="pt-BR" sz="2800" dirty="0" err="1"/>
              <a:t>db.String</a:t>
            </a:r>
            <a:r>
              <a:rPr lang="pt-BR" sz="2800" dirty="0"/>
              <a:t>(50))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turmas = </a:t>
            </a:r>
            <a:r>
              <a:rPr lang="pt-BR" sz="2800" dirty="0" err="1"/>
              <a:t>db.relationship</a:t>
            </a:r>
            <a:r>
              <a:rPr lang="pt-BR" sz="2800" dirty="0"/>
              <a:t>('Turma', </a:t>
            </a:r>
            <a:r>
              <a:rPr lang="pt-BR" sz="2800" dirty="0" err="1"/>
              <a:t>back_populates</a:t>
            </a:r>
            <a:r>
              <a:rPr lang="pt-BR" sz="2800" dirty="0"/>
              <a:t>='professor')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E149E6-AF9B-5AEF-0E1D-25760797DE09}"/>
              </a:ext>
            </a:extLst>
          </p:cNvPr>
          <p:cNvSpPr txBox="1"/>
          <p:nvPr/>
        </p:nvSpPr>
        <p:spPr>
          <a:xfrm>
            <a:off x="1094014" y="6165952"/>
            <a:ext cx="16840200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lnSpc>
                <a:spcPct val="150000"/>
              </a:lnSpc>
              <a:defRPr sz="2800"/>
            </a:lvl1pPr>
          </a:lstStyle>
          <a:p>
            <a:r>
              <a:rPr lang="pt-BR" dirty="0" err="1"/>
              <a:t>class</a:t>
            </a:r>
            <a:r>
              <a:rPr lang="pt-BR" dirty="0"/>
              <a:t> Turma(</a:t>
            </a:r>
            <a:r>
              <a:rPr lang="pt-BR" dirty="0" err="1"/>
              <a:t>db.Model</a:t>
            </a:r>
            <a:r>
              <a:rPr lang="pt-BR" dirty="0"/>
              <a:t>):</a:t>
            </a:r>
          </a:p>
          <a:p>
            <a:r>
              <a:rPr lang="pt-BR" dirty="0"/>
              <a:t>    id = </a:t>
            </a:r>
            <a:r>
              <a:rPr lang="pt-BR" dirty="0" err="1"/>
              <a:t>db.Column</a:t>
            </a:r>
            <a:r>
              <a:rPr lang="pt-BR" dirty="0"/>
              <a:t>(</a:t>
            </a:r>
            <a:r>
              <a:rPr lang="pt-BR" dirty="0" err="1"/>
              <a:t>db.Integer</a:t>
            </a:r>
            <a:r>
              <a:rPr lang="pt-BR" dirty="0"/>
              <a:t>, </a:t>
            </a:r>
            <a:r>
              <a:rPr lang="pt-BR" dirty="0" err="1"/>
              <a:t>primary_key</a:t>
            </a:r>
            <a:r>
              <a:rPr lang="pt-BR" dirty="0"/>
              <a:t>=</a:t>
            </a:r>
            <a:r>
              <a:rPr lang="pt-BR" dirty="0" err="1"/>
              <a:t>True</a:t>
            </a:r>
            <a:r>
              <a:rPr lang="pt-BR" dirty="0"/>
              <a:t>)</a:t>
            </a:r>
          </a:p>
          <a:p>
            <a:r>
              <a:rPr lang="pt-BR" dirty="0"/>
              <a:t>    nome = </a:t>
            </a:r>
            <a:r>
              <a:rPr lang="pt-BR" dirty="0" err="1"/>
              <a:t>db.Column</a:t>
            </a:r>
            <a:r>
              <a:rPr lang="pt-BR" dirty="0"/>
              <a:t>(</a:t>
            </a:r>
            <a:r>
              <a:rPr lang="pt-BR" dirty="0" err="1"/>
              <a:t>db.String</a:t>
            </a:r>
            <a:r>
              <a:rPr lang="pt-BR" dirty="0"/>
              <a:t>(50))</a:t>
            </a:r>
          </a:p>
          <a:p>
            <a:r>
              <a:rPr lang="pt-BR" dirty="0"/>
              <a:t>    </a:t>
            </a:r>
            <a:r>
              <a:rPr lang="pt-BR" dirty="0" err="1"/>
              <a:t>professor_id</a:t>
            </a:r>
            <a:r>
              <a:rPr lang="pt-BR" dirty="0"/>
              <a:t> = </a:t>
            </a:r>
            <a:r>
              <a:rPr lang="pt-BR" dirty="0" err="1"/>
              <a:t>db.Column</a:t>
            </a:r>
            <a:r>
              <a:rPr lang="pt-BR" dirty="0"/>
              <a:t>(</a:t>
            </a:r>
            <a:r>
              <a:rPr lang="pt-BR" dirty="0" err="1"/>
              <a:t>db.Integer</a:t>
            </a:r>
            <a:r>
              <a:rPr lang="pt-BR" dirty="0"/>
              <a:t>, </a:t>
            </a:r>
            <a:r>
              <a:rPr lang="pt-BR" dirty="0" err="1"/>
              <a:t>db.ForeignKey</a:t>
            </a:r>
            <a:r>
              <a:rPr lang="pt-BR" dirty="0"/>
              <a:t>('professor.id'))</a:t>
            </a:r>
          </a:p>
          <a:p>
            <a:r>
              <a:rPr lang="pt-BR" dirty="0"/>
              <a:t>    professor = </a:t>
            </a:r>
            <a:r>
              <a:rPr lang="pt-BR" dirty="0" err="1"/>
              <a:t>db.relationship</a:t>
            </a:r>
            <a:r>
              <a:rPr lang="pt-BR" dirty="0"/>
              <a:t>('Professor', </a:t>
            </a:r>
            <a:r>
              <a:rPr lang="pt-BR" dirty="0" err="1"/>
              <a:t>back_populates</a:t>
            </a:r>
            <a:r>
              <a:rPr lang="pt-BR" dirty="0"/>
              <a:t>='turmas')</a:t>
            </a:r>
          </a:p>
        </p:txBody>
      </p:sp>
    </p:spTree>
    <p:extLst>
      <p:ext uri="{BB962C8B-B14F-4D97-AF65-F5344CB8AC3E}">
        <p14:creationId xmlns:p14="http://schemas.microsoft.com/office/powerpoint/2010/main" val="17135475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273C-2CE6-1F96-5081-7A587672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81CCC8AC-999C-11A1-A460-2F43E679ABDB}"/>
              </a:ext>
            </a:extLst>
          </p:cNvPr>
          <p:cNvSpPr txBox="1"/>
          <p:nvPr/>
        </p:nvSpPr>
        <p:spPr>
          <a:xfrm>
            <a:off x="685800" y="266700"/>
            <a:ext cx="14249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Relacionamentos e Chaves Estrangeiras com </a:t>
            </a:r>
            <a:r>
              <a:rPr lang="pt-BR" sz="4400" b="1" dirty="0" err="1"/>
              <a:t>SQLAlchemy</a:t>
            </a:r>
            <a:endParaRPr lang="pt-BR" sz="4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85B14D-5DA0-6B66-5A3F-85212874483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43389" y="2628900"/>
            <a:ext cx="17201221" cy="303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816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8834-098F-D68B-1D7B-1B310365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F6256CAF-2CCA-2F5A-43D3-A59BEEA7A5EB}"/>
              </a:ext>
            </a:extLst>
          </p:cNvPr>
          <p:cNvSpPr txBox="1"/>
          <p:nvPr/>
        </p:nvSpPr>
        <p:spPr>
          <a:xfrm>
            <a:off x="685800" y="266700"/>
            <a:ext cx="14249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Relacionamentos e Chaves Estrangeiras com </a:t>
            </a:r>
            <a:r>
              <a:rPr lang="pt-BR" sz="4400" b="1" dirty="0" err="1"/>
              <a:t>SQLAlchemy</a:t>
            </a:r>
            <a:endParaRPr lang="pt-BR" sz="44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EAF369-2262-59C0-24D3-5C2E120D6617}"/>
              </a:ext>
            </a:extLst>
          </p:cNvPr>
          <p:cNvSpPr txBox="1"/>
          <p:nvPr/>
        </p:nvSpPr>
        <p:spPr>
          <a:xfrm>
            <a:off x="685800" y="2476500"/>
            <a:ext cx="16818429" cy="36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/>
              <a:t>O que é </a:t>
            </a:r>
            <a:r>
              <a:rPr lang="pt-BR" sz="3200" dirty="0" err="1"/>
              <a:t>back_populates</a:t>
            </a:r>
            <a:r>
              <a:rPr lang="pt-BR" sz="3200" dirty="0"/>
              <a:t>?</a:t>
            </a:r>
          </a:p>
          <a:p>
            <a:pPr>
              <a:lnSpc>
                <a:spcPct val="150000"/>
              </a:lnSpc>
            </a:pPr>
            <a:endParaRPr lang="pt-BR" sz="3200" dirty="0"/>
          </a:p>
          <a:p>
            <a:pPr>
              <a:lnSpc>
                <a:spcPct val="150000"/>
              </a:lnSpc>
            </a:pPr>
            <a:r>
              <a:rPr lang="pt-BR" sz="3200" dirty="0"/>
              <a:t>É o que faz o "relacionamento bidirecional" funcionar ou seja, conecta os dois lados da relação: </a:t>
            </a:r>
            <a:r>
              <a:rPr lang="pt-BR" sz="3200" b="1" dirty="0"/>
              <a:t>o </a:t>
            </a:r>
            <a:r>
              <a:rPr lang="pt-BR" sz="3200" b="1" dirty="0" err="1"/>
              <a:t>SQLAlchemy</a:t>
            </a:r>
            <a:r>
              <a:rPr lang="pt-BR" sz="3200" b="1" dirty="0"/>
              <a:t> entende que </a:t>
            </a:r>
            <a:r>
              <a:rPr lang="pt-BR" sz="3200" b="1" dirty="0" err="1"/>
              <a:t>Professor.turmas</a:t>
            </a:r>
            <a:r>
              <a:rPr lang="pt-BR" sz="3200" b="1" dirty="0"/>
              <a:t> e </a:t>
            </a:r>
            <a:r>
              <a:rPr lang="pt-BR" sz="3200" b="1" dirty="0" err="1"/>
              <a:t>Turma.professor</a:t>
            </a:r>
            <a:r>
              <a:rPr lang="pt-BR" sz="3200" b="1" dirty="0"/>
              <a:t> estão ligados</a:t>
            </a:r>
            <a:r>
              <a:rPr lang="pt-BR" sz="3200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03F71A-A9F7-F364-5B59-118ECB46EB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91200" y="6170909"/>
            <a:ext cx="11200773" cy="327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755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73D33-3967-411D-4D7F-012B68FB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17DE9E0-DEA4-4C15-C789-CC6327FE0A02}"/>
              </a:ext>
            </a:extLst>
          </p:cNvPr>
          <p:cNvSpPr txBox="1"/>
          <p:nvPr/>
        </p:nvSpPr>
        <p:spPr>
          <a:xfrm>
            <a:off x="685800" y="342900"/>
            <a:ext cx="14249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4DEEC0-878C-3AAF-960A-DEEFCA3EBE35}"/>
              </a:ext>
            </a:extLst>
          </p:cNvPr>
          <p:cNvSpPr txBox="1"/>
          <p:nvPr/>
        </p:nvSpPr>
        <p:spPr>
          <a:xfrm>
            <a:off x="685800" y="1714500"/>
            <a:ext cx="15621000" cy="776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 err="1"/>
              <a:t>class</a:t>
            </a:r>
            <a:r>
              <a:rPr lang="pt-BR" sz="2800" dirty="0"/>
              <a:t> Professor(</a:t>
            </a:r>
            <a:r>
              <a:rPr lang="pt-BR" sz="2800" dirty="0" err="1"/>
              <a:t>db.Model</a:t>
            </a:r>
            <a:r>
              <a:rPr lang="pt-BR" sz="2800" dirty="0"/>
              <a:t>):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id = </a:t>
            </a:r>
            <a:r>
              <a:rPr lang="pt-BR" sz="2800" dirty="0" err="1"/>
              <a:t>db.Column</a:t>
            </a:r>
            <a:r>
              <a:rPr lang="pt-BR" sz="2800" dirty="0"/>
              <a:t>(</a:t>
            </a:r>
            <a:r>
              <a:rPr lang="pt-BR" sz="2800" dirty="0" err="1"/>
              <a:t>db.Integer</a:t>
            </a:r>
            <a:r>
              <a:rPr lang="pt-BR" sz="2800" dirty="0"/>
              <a:t>, </a:t>
            </a:r>
            <a:r>
              <a:rPr lang="pt-BR" sz="2800" dirty="0" err="1"/>
              <a:t>primary_key</a:t>
            </a:r>
            <a:r>
              <a:rPr lang="pt-BR" sz="2800" dirty="0"/>
              <a:t>=</a:t>
            </a:r>
            <a:r>
              <a:rPr lang="pt-BR" sz="2800" dirty="0" err="1"/>
              <a:t>True</a:t>
            </a:r>
            <a:r>
              <a:rPr lang="pt-BR" sz="28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nome = </a:t>
            </a:r>
            <a:r>
              <a:rPr lang="pt-BR" sz="2800" dirty="0" err="1"/>
              <a:t>db.Column</a:t>
            </a:r>
            <a:r>
              <a:rPr lang="pt-BR" sz="2800" dirty="0"/>
              <a:t>(</a:t>
            </a:r>
            <a:r>
              <a:rPr lang="pt-BR" sz="2800" dirty="0" err="1"/>
              <a:t>db.String</a:t>
            </a:r>
            <a:r>
              <a:rPr lang="pt-BR" sz="2800" dirty="0"/>
              <a:t>(100))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turmas = </a:t>
            </a:r>
            <a:r>
              <a:rPr lang="pt-BR" sz="2800" dirty="0" err="1"/>
              <a:t>db.relationship</a:t>
            </a:r>
            <a:r>
              <a:rPr lang="pt-BR" sz="2800" dirty="0"/>
              <a:t>('Turma', </a:t>
            </a:r>
            <a:r>
              <a:rPr lang="pt-BR" sz="2800" dirty="0" err="1"/>
              <a:t>back_populates</a:t>
            </a:r>
            <a:r>
              <a:rPr lang="pt-BR" sz="2800" dirty="0"/>
              <a:t>='professor')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 err="1"/>
              <a:t>class</a:t>
            </a:r>
            <a:r>
              <a:rPr lang="pt-BR" sz="2800" dirty="0"/>
              <a:t> Turma(</a:t>
            </a:r>
            <a:r>
              <a:rPr lang="pt-BR" sz="2800" dirty="0" err="1"/>
              <a:t>db.Model</a:t>
            </a:r>
            <a:r>
              <a:rPr lang="pt-BR" sz="2800" dirty="0"/>
              <a:t>):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id = </a:t>
            </a:r>
            <a:r>
              <a:rPr lang="pt-BR" sz="2800" dirty="0" err="1"/>
              <a:t>db.Column</a:t>
            </a:r>
            <a:r>
              <a:rPr lang="pt-BR" sz="2800" dirty="0"/>
              <a:t>(</a:t>
            </a:r>
            <a:r>
              <a:rPr lang="pt-BR" sz="2800" dirty="0" err="1"/>
              <a:t>db.Integer</a:t>
            </a:r>
            <a:r>
              <a:rPr lang="pt-BR" sz="2800" dirty="0"/>
              <a:t>, </a:t>
            </a:r>
            <a:r>
              <a:rPr lang="pt-BR" sz="2800" dirty="0" err="1"/>
              <a:t>primary_key</a:t>
            </a:r>
            <a:r>
              <a:rPr lang="pt-BR" sz="2800" dirty="0"/>
              <a:t>=</a:t>
            </a:r>
            <a:r>
              <a:rPr lang="pt-BR" sz="2800" dirty="0" err="1"/>
              <a:t>True</a:t>
            </a:r>
            <a:r>
              <a:rPr lang="pt-BR" sz="28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    nome = </a:t>
            </a:r>
            <a:r>
              <a:rPr lang="pt-BR" sz="2800" dirty="0" err="1"/>
              <a:t>db.Column</a:t>
            </a:r>
            <a:r>
              <a:rPr lang="pt-BR" sz="2800" dirty="0"/>
              <a:t>(</a:t>
            </a:r>
            <a:r>
              <a:rPr lang="pt-BR" sz="2800" dirty="0" err="1"/>
              <a:t>db.String</a:t>
            </a:r>
            <a:r>
              <a:rPr lang="pt-BR" sz="2800" dirty="0"/>
              <a:t>(100))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>
                <a:highlight>
                  <a:srgbClr val="00FF00"/>
                </a:highlight>
              </a:rPr>
              <a:t>    </a:t>
            </a:r>
            <a:r>
              <a:rPr lang="pt-BR" sz="2800" dirty="0" err="1">
                <a:highlight>
                  <a:srgbClr val="00FF00"/>
                </a:highlight>
              </a:rPr>
              <a:t>professor_id</a:t>
            </a:r>
            <a:r>
              <a:rPr lang="pt-BR" sz="2800" dirty="0">
                <a:highlight>
                  <a:srgbClr val="00FF00"/>
                </a:highlight>
              </a:rPr>
              <a:t> = </a:t>
            </a:r>
            <a:r>
              <a:rPr lang="pt-BR" sz="2800" dirty="0" err="1">
                <a:highlight>
                  <a:srgbClr val="00FF00"/>
                </a:highlight>
              </a:rPr>
              <a:t>db.Column</a:t>
            </a:r>
            <a:r>
              <a:rPr lang="pt-BR" sz="2800" dirty="0">
                <a:highlight>
                  <a:srgbClr val="00FF00"/>
                </a:highlight>
              </a:rPr>
              <a:t>(</a:t>
            </a:r>
            <a:r>
              <a:rPr lang="pt-BR" sz="2800" dirty="0" err="1">
                <a:highlight>
                  <a:srgbClr val="00FF00"/>
                </a:highlight>
              </a:rPr>
              <a:t>db.Integer</a:t>
            </a:r>
            <a:r>
              <a:rPr lang="pt-BR" sz="2800" dirty="0">
                <a:highlight>
                  <a:srgbClr val="00FF00"/>
                </a:highlight>
              </a:rPr>
              <a:t>, </a:t>
            </a:r>
            <a:r>
              <a:rPr lang="pt-BR" sz="2800" dirty="0" err="1">
                <a:highlight>
                  <a:srgbClr val="00FF00"/>
                </a:highlight>
              </a:rPr>
              <a:t>db.ForeignKey</a:t>
            </a:r>
            <a:r>
              <a:rPr lang="pt-BR" sz="2800" dirty="0">
                <a:highlight>
                  <a:srgbClr val="00FF00"/>
                </a:highlight>
              </a:rPr>
              <a:t>('professor.id’))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    </a:t>
            </a:r>
            <a:r>
              <a:rPr lang="pt-BR" sz="2800" dirty="0">
                <a:highlight>
                  <a:srgbClr val="FFFF00"/>
                </a:highlight>
              </a:rPr>
              <a:t>professor = </a:t>
            </a:r>
            <a:r>
              <a:rPr lang="pt-BR" sz="2800" dirty="0" err="1">
                <a:highlight>
                  <a:srgbClr val="FFFF00"/>
                </a:highlight>
              </a:rPr>
              <a:t>db.relationship</a:t>
            </a:r>
            <a:r>
              <a:rPr lang="pt-BR" sz="2800" dirty="0">
                <a:highlight>
                  <a:srgbClr val="FFFF00"/>
                </a:highlight>
              </a:rPr>
              <a:t>('Professor', </a:t>
            </a:r>
            <a:r>
              <a:rPr lang="pt-BR" sz="2800" dirty="0" err="1">
                <a:highlight>
                  <a:srgbClr val="FFFF00"/>
                </a:highlight>
              </a:rPr>
              <a:t>back_populates</a:t>
            </a:r>
            <a:r>
              <a:rPr lang="pt-BR" sz="2800" dirty="0">
                <a:highlight>
                  <a:srgbClr val="FFFF00"/>
                </a:highlight>
              </a:rPr>
              <a:t>='turmas')</a:t>
            </a:r>
          </a:p>
        </p:txBody>
      </p:sp>
    </p:spTree>
    <p:extLst>
      <p:ext uri="{BB962C8B-B14F-4D97-AF65-F5344CB8AC3E}">
        <p14:creationId xmlns:p14="http://schemas.microsoft.com/office/powerpoint/2010/main" val="1126398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8EC80F89-1872-1344-B57D-17DC138DE2AA}" vid="{36ECAD06-5264-B54E-BA3C-3A58ED076FA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ase">
  <a:themeElements>
    <a:clrScheme name="Personalizada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733</TotalTime>
  <Words>3768</Words>
  <Application>Microsoft Office PowerPoint</Application>
  <PresentationFormat>Personalizar</PresentationFormat>
  <Paragraphs>283</Paragraphs>
  <Slides>52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52</vt:i4>
      </vt:variant>
    </vt:vector>
  </HeadingPairs>
  <TitlesOfParts>
    <vt:vector size="64" baseType="lpstr">
      <vt:lpstr>Aptos</vt:lpstr>
      <vt:lpstr>Arial</vt:lpstr>
      <vt:lpstr>Calibri</vt:lpstr>
      <vt:lpstr>Consolas</vt:lpstr>
      <vt:lpstr>Corbel</vt:lpstr>
      <vt:lpstr>Symbol</vt:lpstr>
      <vt:lpstr>Trebuchet MS</vt:lpstr>
      <vt:lpstr>Wingdings</vt:lpstr>
      <vt:lpstr>Tema1</vt:lpstr>
      <vt:lpstr>Tema do Office</vt:lpstr>
      <vt:lpstr>1_Tema do Office</vt:lpstr>
      <vt:lpstr>Base</vt:lpstr>
      <vt:lpstr>Banco de dados</vt:lpstr>
      <vt:lpstr>O que é um Banco de Dados?</vt:lpstr>
      <vt:lpstr>Importância dos Bancos de Dados nos Dias de Hoje</vt:lpstr>
      <vt:lpstr>Importância dos Bancos de Dados nos Dias de Hoje</vt:lpstr>
      <vt:lpstr>Tipos de bancos de dados</vt:lpstr>
      <vt:lpstr>Bancos de Dados Orientados a Objetos:</vt:lpstr>
      <vt:lpstr>Bancos de Dados em Nuvem:</vt:lpstr>
      <vt:lpstr>Bancos de Dados NoSQL:</vt:lpstr>
      <vt:lpstr>SQL x NoSQL:</vt:lpstr>
      <vt:lpstr>Baixa Latência:</vt:lpstr>
      <vt:lpstr>Escalabilidade:</vt:lpstr>
      <vt:lpstr>Quando usar NoSQL e SQL?</vt:lpstr>
      <vt:lpstr>O que é SQL?</vt:lpstr>
      <vt:lpstr>Onde é utilizado SQL?</vt:lpstr>
      <vt:lpstr>Quais as vantagens e desvantagens da linguagem SQL? Principais vantagens</vt:lpstr>
      <vt:lpstr>Quais as vantagens e desvantagens da linguagem SQL?</vt:lpstr>
      <vt:lpstr>Apresentação do PowerPoint</vt:lpstr>
      <vt:lpstr>DML: linguagem de manipulação de dados</vt:lpstr>
      <vt:lpstr>DDL: linguagem de definição de dados</vt:lpstr>
      <vt:lpstr>DTL ou TCL: linguagem de transação de dados</vt:lpstr>
      <vt:lpstr>Consultas em Banco de Dados</vt:lpstr>
      <vt:lpstr>Exemplo 1: Selecionando Campos Específicos</vt:lpstr>
      <vt:lpstr>Exemplo 3: Filtrando com a Cláusula WHERE</vt:lpstr>
      <vt:lpstr>Exemplo 5: Combinando Condições com a Cláusula WHERE</vt:lpstr>
      <vt:lpstr>NoSQL</vt:lpstr>
      <vt:lpstr>MongoDB (MQL)</vt:lpstr>
      <vt:lpstr>MongoDB (MQL)</vt:lpstr>
      <vt:lpstr>Exploração dos Diferentes Tipos de Bancos de Dados NoSQL</vt:lpstr>
      <vt:lpstr>Exploração dos Diferentes Tipos de Bancos de Dados NoSQL</vt:lpstr>
      <vt:lpstr>Exploração dos Diferentes Tipos de Bancos de Dados NoSQL</vt:lpstr>
      <vt:lpstr>Exploração dos Diferentes Tipos de Bancos de Dados NoSQL</vt:lpstr>
      <vt:lpstr>Bancos de Dados de Grafos:</vt:lpstr>
      <vt:lpstr>Conexão com SQLITE</vt:lpstr>
      <vt:lpstr>SQLAlchemy</vt:lpstr>
      <vt:lpstr>ORM</vt:lpstr>
      <vt:lpstr>ORM</vt:lpstr>
      <vt:lpstr>BD</vt:lpstr>
      <vt:lpstr>POO</vt:lpstr>
      <vt:lpstr>Apresentação do PowerPoint</vt:lpstr>
      <vt:lpstr>Problema real: dois mundos diferentes</vt:lpstr>
      <vt:lpstr>O que o ORM faz?</vt:lpstr>
      <vt:lpstr>Benefícios reais do ORM </vt:lpstr>
      <vt:lpstr>Nosso projeto</vt:lpstr>
      <vt:lpstr>Como migrar para SQLite com ORM (SQLAlchemy)</vt:lpstr>
      <vt:lpstr>Como migrar para SQLite com ORM (SQLAlchemy)</vt:lpstr>
      <vt:lpstr>Como migrar para SQLite com ORM (SQLAlchemy)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</dc:title>
  <dc:creator>Caio Ireno</dc:creator>
  <cp:keywords>DAFrFBP7KFU,BAEQldH94GQ</cp:keywords>
  <cp:lastModifiedBy>Nathália Nogueira</cp:lastModifiedBy>
  <cp:revision>3</cp:revision>
  <dcterms:created xsi:type="dcterms:W3CDTF">2025-01-16T12:32:45Z</dcterms:created>
  <dcterms:modified xsi:type="dcterms:W3CDTF">2025-05-30T23:21:38Z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2025-01-16T00:00:00Z</vt:filetime>
  </property>
  <property fmtid="{D5CDD505-2E9C-101B-9397-08002B2CF9AE}" pid="3" name="Creator">
    <vt:lpwstr>Canva</vt:lpwstr>
  </property>
  <property fmtid="{D5CDD505-2E9C-101B-9397-08002B2CF9AE}" pid="4" name="LastSaved">
    <vt:filetime>2025-01-16T00:00:00Z</vt:filetime>
  </property>
  <property fmtid="{D5CDD505-2E9C-101B-9397-08002B2CF9AE}" pid="5" name="Producer">
    <vt:lpwstr>Canva</vt:lpwstr>
  </property>
</Properties>
</file>